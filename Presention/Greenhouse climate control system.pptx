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54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3" r:id="rId11"/>
    <p:sldId id="362" r:id="rId12"/>
    <p:sldId id="3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8AF867-7607-F113-7ACC-C467BE747EF6}" name="Kaila Orsucci (ANDERSEN CONSULTANTS LLC)" initials="KO(CL" userId="S::v-orsuccik@microsoft.com::b35c4750-d91c-4d97-88c6-49181942f6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A0C"/>
    <a:srgbClr val="D9F2D0"/>
    <a:srgbClr val="31681E"/>
    <a:srgbClr val="97E57F"/>
    <a:srgbClr val="295719"/>
    <a:srgbClr val="255B13"/>
    <a:srgbClr val="F1F1EF"/>
    <a:srgbClr val="3A921E"/>
    <a:srgbClr val="3C7E24"/>
    <a:srgbClr val="3F8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30"/>
  </p:normalViewPr>
  <p:slideViewPr>
    <p:cSldViewPr>
      <p:cViewPr varScale="1">
        <p:scale>
          <a:sx n="80" d="100"/>
          <a:sy n="80" d="100"/>
        </p:scale>
        <p:origin x="58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customXml" Target="../customXml/item3.xml"/><Relationship Id="rId21" Type="http://schemas.openxmlformats.org/officeDocument/2006/relationships/customXml" Target="../customXml/item2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microsoft.com/office/2018/10/relationships/authors" Target="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4B1B79-2C78-430E-9A22-516C83B3399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941D18-476D-44B2-BD76-8AF13B1F198D}">
      <dgm:prSet phldrT="[Text]"/>
      <dgm:spPr>
        <a:solidFill>
          <a:srgbClr val="3F8626"/>
        </a:solidFill>
      </dgm:spPr>
      <dgm:t>
        <a:bodyPr/>
        <a:lstStyle/>
        <a:p>
          <a:pPr>
            <a:buNone/>
          </a:pPr>
          <a:r>
            <a:rPr lang="en-US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rPr>
            <a:t>APP</a:t>
          </a:r>
          <a:endParaRPr lang="en-US" dirty="0"/>
        </a:p>
      </dgm:t>
    </dgm:pt>
    <dgm:pt modelId="{A69C9A43-35F6-46D7-AB63-7AECEC4E7B58}" cxnId="{91AB077F-AEDD-4555-9CD9-0E614920FBAD}" type="parTrans">
      <dgm:prSet/>
      <dgm:spPr/>
      <dgm:t>
        <a:bodyPr/>
        <a:lstStyle/>
        <a:p>
          <a:endParaRPr lang="en-US"/>
        </a:p>
      </dgm:t>
    </dgm:pt>
    <dgm:pt modelId="{13C67047-C0FB-4561-B186-B16D7BD8186D}" cxnId="{91AB077F-AEDD-4555-9CD9-0E614920FBAD}" type="sibTrans">
      <dgm:prSet/>
      <dgm:spPr/>
      <dgm:t>
        <a:bodyPr/>
        <a:lstStyle/>
        <a:p>
          <a:endParaRPr lang="en-US"/>
        </a:p>
      </dgm:t>
    </dgm:pt>
    <dgm:pt modelId="{B6BFB79B-633E-43F4-9B3E-DED944825AAE}">
      <dgm:prSet phldrT="[Text]" custT="1"/>
      <dgm:spPr/>
      <dgm:t>
        <a:bodyPr/>
        <a:lstStyle/>
        <a:p>
          <a:pPr>
            <a:buNone/>
          </a:pPr>
          <a:r>
            <a:rPr lang="en-US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rPr>
            <a:t>Application Layer</a:t>
          </a:r>
          <a:r>
            <a:rPr lang="ar-EG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rPr>
            <a:t> : </a:t>
          </a:r>
          <a:r>
            <a:rPr lang="en-US" sz="1600" dirty="0">
              <a:solidFill>
                <a:schemeClr val="tx1"/>
              </a:solidFill>
            </a:rPr>
            <a:t>contains the project behavior and user interaction: </a:t>
          </a:r>
          <a:r>
            <a:rPr lang="en-US" sz="1600" dirty="0" err="1">
              <a:solidFill>
                <a:schemeClr val="tx1"/>
              </a:solidFill>
            </a:rPr>
            <a:t>main.c</a:t>
          </a:r>
          <a:r>
            <a:rPr lang="en-US" sz="1600" dirty="0">
              <a:solidFill>
                <a:schemeClr val="tx1"/>
              </a:solidFill>
            </a:rPr>
            <a:t> and </a:t>
          </a:r>
          <a:r>
            <a:rPr lang="en-US" sz="1600" dirty="0" err="1">
              <a:solidFill>
                <a:schemeClr val="tx1"/>
              </a:solidFill>
            </a:rPr>
            <a:t>Climate_Logic.c</a:t>
          </a:r>
          <a:endParaRPr lang="en-US" sz="1600" dirty="0">
            <a:solidFill>
              <a:schemeClr val="tx1"/>
            </a:solidFill>
          </a:endParaRPr>
        </a:p>
      </dgm:t>
    </dgm:pt>
    <dgm:pt modelId="{06158ACF-F024-4ED3-AA42-C2EA5E372E6A}" cxnId="{25C066AD-8E5B-46F3-BF3F-0BF21C4B9724}" type="parTrans">
      <dgm:prSet/>
      <dgm:spPr/>
      <dgm:t>
        <a:bodyPr/>
        <a:lstStyle/>
        <a:p>
          <a:endParaRPr lang="en-US"/>
        </a:p>
      </dgm:t>
    </dgm:pt>
    <dgm:pt modelId="{7F6C4BF1-8B05-4DE4-9E65-0EECD0933049}" cxnId="{25C066AD-8E5B-46F3-BF3F-0BF21C4B9724}" type="sibTrans">
      <dgm:prSet/>
      <dgm:spPr/>
      <dgm:t>
        <a:bodyPr/>
        <a:lstStyle/>
        <a:p>
          <a:endParaRPr lang="en-US"/>
        </a:p>
      </dgm:t>
    </dgm:pt>
    <dgm:pt modelId="{79254708-1063-40B9-8ECA-9673EDCAAF0A}">
      <dgm:prSet phldrT="[Text]"/>
      <dgm:spPr>
        <a:solidFill>
          <a:srgbClr val="31681E"/>
        </a:solidFill>
      </dgm:spPr>
      <dgm:t>
        <a:bodyPr/>
        <a:lstStyle/>
        <a:p>
          <a:pPr>
            <a:buNone/>
          </a:pPr>
          <a:r>
            <a:rPr lang="en-US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rPr>
            <a:t>HAL</a:t>
          </a:r>
          <a:endParaRPr lang="en-US" dirty="0"/>
        </a:p>
      </dgm:t>
    </dgm:pt>
    <dgm:pt modelId="{DB00C74C-E121-489D-9CE3-77256506CD64}" cxnId="{AC8C6CD9-B47B-489D-84E8-F260F23BA093}" type="parTrans">
      <dgm:prSet/>
      <dgm:spPr/>
      <dgm:t>
        <a:bodyPr/>
        <a:lstStyle/>
        <a:p>
          <a:endParaRPr lang="en-US"/>
        </a:p>
      </dgm:t>
    </dgm:pt>
    <dgm:pt modelId="{7CB495A0-8F5F-4143-988F-A3096693B986}" cxnId="{AC8C6CD9-B47B-489D-84E8-F260F23BA093}" type="sibTrans">
      <dgm:prSet/>
      <dgm:spPr/>
      <dgm:t>
        <a:bodyPr/>
        <a:lstStyle/>
        <a:p>
          <a:endParaRPr lang="en-US"/>
        </a:p>
      </dgm:t>
    </dgm:pt>
    <dgm:pt modelId="{5F62F095-70B2-4E02-9CFA-7B6757CDC3A7}">
      <dgm:prSet phldrT="[Text]" custT="1"/>
      <dgm:spPr/>
      <dgm:t>
        <a:bodyPr/>
        <a:lstStyle/>
        <a:p>
          <a:pPr>
            <a:buNone/>
          </a:pPr>
          <a:r>
            <a:rPr lang="en-US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rPr>
            <a:t>Hardware Abstraction Layer</a:t>
          </a:r>
          <a:r>
            <a:rPr lang="ar-EG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rPr>
            <a:t> : </a:t>
          </a:r>
          <a:r>
            <a:rPr lang="en-US" sz="1600" dirty="0">
              <a:solidFill>
                <a:schemeClr val="tx1"/>
              </a:solidFill>
            </a:rPr>
            <a:t>controls external modules such as LCD, Keypad, Sensors, Relay and Buzzer</a:t>
          </a:r>
        </a:p>
      </dgm:t>
    </dgm:pt>
    <dgm:pt modelId="{A7A94A99-D3FA-4F5F-86FC-54E1DC1086D1}" cxnId="{02CE78D8-B94E-4DF4-A782-85C567EEFCA0}" type="parTrans">
      <dgm:prSet/>
      <dgm:spPr/>
      <dgm:t>
        <a:bodyPr/>
        <a:lstStyle/>
        <a:p>
          <a:endParaRPr lang="en-US"/>
        </a:p>
      </dgm:t>
    </dgm:pt>
    <dgm:pt modelId="{739FEEEF-95AD-4785-9F55-E832E859447E}" cxnId="{02CE78D8-B94E-4DF4-A782-85C567EEFCA0}" type="sibTrans">
      <dgm:prSet/>
      <dgm:spPr/>
      <dgm:t>
        <a:bodyPr/>
        <a:lstStyle/>
        <a:p>
          <a:endParaRPr lang="en-US"/>
        </a:p>
      </dgm:t>
    </dgm:pt>
    <dgm:pt modelId="{AEA5B420-F0F9-46D8-99E2-BF46811D04DF}">
      <dgm:prSet/>
      <dgm:spPr>
        <a:solidFill>
          <a:srgbClr val="295719"/>
        </a:solidFill>
      </dgm:spPr>
      <dgm:t>
        <a:bodyPr/>
        <a:lstStyle/>
        <a:p>
          <a:r>
            <a:rPr lang="en-US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rPr>
            <a:t>MCAL</a:t>
          </a:r>
          <a:endParaRPr lang="en-US" dirty="0"/>
        </a:p>
      </dgm:t>
    </dgm:pt>
    <dgm:pt modelId="{B395A4D9-D23E-489E-8E71-FF0459403B94}" cxnId="{E62A0C20-0383-45C5-86BC-5DF552FA595F}" type="parTrans">
      <dgm:prSet/>
      <dgm:spPr/>
      <dgm:t>
        <a:bodyPr/>
        <a:lstStyle/>
        <a:p>
          <a:endParaRPr lang="en-US"/>
        </a:p>
      </dgm:t>
    </dgm:pt>
    <dgm:pt modelId="{95E1F3F4-7344-4390-8E1D-0BDFFB1DDEBD}" cxnId="{E62A0C20-0383-45C5-86BC-5DF552FA595F}" type="sibTrans">
      <dgm:prSet/>
      <dgm:spPr/>
      <dgm:t>
        <a:bodyPr/>
        <a:lstStyle/>
        <a:p>
          <a:endParaRPr lang="en-US"/>
        </a:p>
      </dgm:t>
    </dgm:pt>
    <dgm:pt modelId="{BC699CC3-4125-4201-948D-0986E989E344}">
      <dgm:prSet custT="1"/>
      <dgm:spPr/>
      <dgm:t>
        <a:bodyPr/>
        <a:lstStyle/>
        <a:p>
          <a:pPr>
            <a:buNone/>
          </a:pPr>
          <a:r>
            <a:rPr lang="en-US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rPr>
            <a:t>Microcontroller Abstraction Layer</a:t>
          </a:r>
          <a:r>
            <a:rPr lang="ar-EG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rPr>
            <a:t>: </a:t>
          </a:r>
          <a:r>
            <a:rPr lang="en-US" sz="1600" dirty="0">
              <a:solidFill>
                <a:schemeClr val="tx1"/>
              </a:solidFill>
            </a:rPr>
            <a:t>controls low-level peripherals: DIO, ADC, Timer0, Timer1 and Global Interrupt</a:t>
          </a:r>
          <a:r>
            <a:rPr lang="ar-EG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rPr>
            <a:t>    </a:t>
          </a:r>
          <a:endParaRPr lang="en-US" sz="1600" dirty="0">
            <a:solidFill>
              <a:schemeClr val="tx1"/>
            </a:solidFill>
          </a:endParaRPr>
        </a:p>
      </dgm:t>
    </dgm:pt>
    <dgm:pt modelId="{0CDDE8AC-8879-402D-BEA8-88B588ADC30C}" cxnId="{1C9A4D66-8A13-408B-9D69-7BAEAECBD19D}" type="parTrans">
      <dgm:prSet/>
      <dgm:spPr/>
      <dgm:t>
        <a:bodyPr/>
        <a:lstStyle/>
        <a:p>
          <a:endParaRPr lang="en-US"/>
        </a:p>
      </dgm:t>
    </dgm:pt>
    <dgm:pt modelId="{482779BC-002E-4B88-9FC2-75009225D841}" cxnId="{1C9A4D66-8A13-408B-9D69-7BAEAECBD19D}" type="sibTrans">
      <dgm:prSet/>
      <dgm:spPr/>
      <dgm:t>
        <a:bodyPr/>
        <a:lstStyle/>
        <a:p>
          <a:endParaRPr lang="en-US"/>
        </a:p>
      </dgm:t>
    </dgm:pt>
    <dgm:pt modelId="{A8D21AAC-8952-4006-8D5D-5473EE0261B4}" type="pres">
      <dgm:prSet presAssocID="{E14B1B79-2C78-430E-9A22-516C83B33994}" presName="linear" presStyleCnt="0">
        <dgm:presLayoutVars>
          <dgm:animLvl val="lvl"/>
          <dgm:resizeHandles val="exact"/>
        </dgm:presLayoutVars>
      </dgm:prSet>
      <dgm:spPr/>
    </dgm:pt>
    <dgm:pt modelId="{1D783BE5-E676-41FC-9EBD-6C00C0DB4CBD}" type="pres">
      <dgm:prSet presAssocID="{0F941D18-476D-44B2-BD76-8AF13B1F198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AF63635-B619-4121-AB29-54881AF5DCDE}" type="pres">
      <dgm:prSet presAssocID="{0F941D18-476D-44B2-BD76-8AF13B1F198D}" presName="childText" presStyleLbl="revTx" presStyleIdx="0" presStyleCnt="3">
        <dgm:presLayoutVars>
          <dgm:bulletEnabled val="1"/>
        </dgm:presLayoutVars>
      </dgm:prSet>
      <dgm:spPr/>
    </dgm:pt>
    <dgm:pt modelId="{10BF4FA9-511B-4325-A2A4-A71FEC6B76FF}" type="pres">
      <dgm:prSet presAssocID="{79254708-1063-40B9-8ECA-9673EDCAAF0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E467ECD-D265-474B-AADE-C3CE44D78A76}" type="pres">
      <dgm:prSet presAssocID="{79254708-1063-40B9-8ECA-9673EDCAAF0A}" presName="childText" presStyleLbl="revTx" presStyleIdx="1" presStyleCnt="3">
        <dgm:presLayoutVars>
          <dgm:bulletEnabled val="1"/>
        </dgm:presLayoutVars>
      </dgm:prSet>
      <dgm:spPr/>
    </dgm:pt>
    <dgm:pt modelId="{AB4915D2-4E0A-425C-911A-82C3C9AB06F4}" type="pres">
      <dgm:prSet presAssocID="{AEA5B420-F0F9-46D8-99E2-BF46811D04D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F23EF7D-6C4C-4FAE-8963-560802F46BCD}" type="pres">
      <dgm:prSet presAssocID="{AEA5B420-F0F9-46D8-99E2-BF46811D04D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22DDF11-731B-4493-9F18-D80BC24D4E48}" type="presOf" srcId="{79254708-1063-40B9-8ECA-9673EDCAAF0A}" destId="{10BF4FA9-511B-4325-A2A4-A71FEC6B76FF}" srcOrd="0" destOrd="0" presId="urn:microsoft.com/office/officeart/2005/8/layout/vList2"/>
    <dgm:cxn modelId="{D7A66915-F766-4C02-AE8C-4707F4766667}" type="presOf" srcId="{AEA5B420-F0F9-46D8-99E2-BF46811D04DF}" destId="{AB4915D2-4E0A-425C-911A-82C3C9AB06F4}" srcOrd="0" destOrd="0" presId="urn:microsoft.com/office/officeart/2005/8/layout/vList2"/>
    <dgm:cxn modelId="{550B1717-18A6-41EC-B2DE-752FE86BB15E}" type="presOf" srcId="{E14B1B79-2C78-430E-9A22-516C83B33994}" destId="{A8D21AAC-8952-4006-8D5D-5473EE0261B4}" srcOrd="0" destOrd="0" presId="urn:microsoft.com/office/officeart/2005/8/layout/vList2"/>
    <dgm:cxn modelId="{E62A0C20-0383-45C5-86BC-5DF552FA595F}" srcId="{E14B1B79-2C78-430E-9A22-516C83B33994}" destId="{AEA5B420-F0F9-46D8-99E2-BF46811D04DF}" srcOrd="2" destOrd="0" parTransId="{B395A4D9-D23E-489E-8E71-FF0459403B94}" sibTransId="{95E1F3F4-7344-4390-8E1D-0BDFFB1DDEBD}"/>
    <dgm:cxn modelId="{75D25638-22EF-471B-8D1F-7E7A8758E95D}" type="presOf" srcId="{5F62F095-70B2-4E02-9CFA-7B6757CDC3A7}" destId="{BE467ECD-D265-474B-AADE-C3CE44D78A76}" srcOrd="0" destOrd="0" presId="urn:microsoft.com/office/officeart/2005/8/layout/vList2"/>
    <dgm:cxn modelId="{1C9A4D66-8A13-408B-9D69-7BAEAECBD19D}" srcId="{AEA5B420-F0F9-46D8-99E2-BF46811D04DF}" destId="{BC699CC3-4125-4201-948D-0986E989E344}" srcOrd="0" destOrd="0" parTransId="{0CDDE8AC-8879-402D-BEA8-88B588ADC30C}" sibTransId="{482779BC-002E-4B88-9FC2-75009225D841}"/>
    <dgm:cxn modelId="{816AEB49-82BC-4909-8089-2BE4DA82A08B}" type="presOf" srcId="{B6BFB79B-633E-43F4-9B3E-DED944825AAE}" destId="{0AF63635-B619-4121-AB29-54881AF5DCDE}" srcOrd="0" destOrd="0" presId="urn:microsoft.com/office/officeart/2005/8/layout/vList2"/>
    <dgm:cxn modelId="{91AB077F-AEDD-4555-9CD9-0E614920FBAD}" srcId="{E14B1B79-2C78-430E-9A22-516C83B33994}" destId="{0F941D18-476D-44B2-BD76-8AF13B1F198D}" srcOrd="0" destOrd="0" parTransId="{A69C9A43-35F6-46D7-AB63-7AECEC4E7B58}" sibTransId="{13C67047-C0FB-4561-B186-B16D7BD8186D}"/>
    <dgm:cxn modelId="{CF42FC94-B292-4DD9-BC42-0864895C30A0}" type="presOf" srcId="{0F941D18-476D-44B2-BD76-8AF13B1F198D}" destId="{1D783BE5-E676-41FC-9EBD-6C00C0DB4CBD}" srcOrd="0" destOrd="0" presId="urn:microsoft.com/office/officeart/2005/8/layout/vList2"/>
    <dgm:cxn modelId="{25C066AD-8E5B-46F3-BF3F-0BF21C4B9724}" srcId="{0F941D18-476D-44B2-BD76-8AF13B1F198D}" destId="{B6BFB79B-633E-43F4-9B3E-DED944825AAE}" srcOrd="0" destOrd="0" parTransId="{06158ACF-F024-4ED3-AA42-C2EA5E372E6A}" sibTransId="{7F6C4BF1-8B05-4DE4-9E65-0EECD0933049}"/>
    <dgm:cxn modelId="{02CE78D8-B94E-4DF4-A782-85C567EEFCA0}" srcId="{79254708-1063-40B9-8ECA-9673EDCAAF0A}" destId="{5F62F095-70B2-4E02-9CFA-7B6757CDC3A7}" srcOrd="0" destOrd="0" parTransId="{A7A94A99-D3FA-4F5F-86FC-54E1DC1086D1}" sibTransId="{739FEEEF-95AD-4785-9F55-E832E859447E}"/>
    <dgm:cxn modelId="{AC8C6CD9-B47B-489D-84E8-F260F23BA093}" srcId="{E14B1B79-2C78-430E-9A22-516C83B33994}" destId="{79254708-1063-40B9-8ECA-9673EDCAAF0A}" srcOrd="1" destOrd="0" parTransId="{DB00C74C-E121-489D-9CE3-77256506CD64}" sibTransId="{7CB495A0-8F5F-4143-988F-A3096693B986}"/>
    <dgm:cxn modelId="{D56C0AF5-F68D-4B63-826D-36F04AF825D9}" type="presOf" srcId="{BC699CC3-4125-4201-948D-0986E989E344}" destId="{0F23EF7D-6C4C-4FAE-8963-560802F46BCD}" srcOrd="0" destOrd="0" presId="urn:microsoft.com/office/officeart/2005/8/layout/vList2"/>
    <dgm:cxn modelId="{A7FD0947-F2D4-43E6-B9FA-386A608DECE8}" type="presParOf" srcId="{A8D21AAC-8952-4006-8D5D-5473EE0261B4}" destId="{1D783BE5-E676-41FC-9EBD-6C00C0DB4CBD}" srcOrd="0" destOrd="0" presId="urn:microsoft.com/office/officeart/2005/8/layout/vList2"/>
    <dgm:cxn modelId="{9E44F1C0-8EDD-4BA8-BC62-E31D09789392}" type="presParOf" srcId="{A8D21AAC-8952-4006-8D5D-5473EE0261B4}" destId="{0AF63635-B619-4121-AB29-54881AF5DCDE}" srcOrd="1" destOrd="0" presId="urn:microsoft.com/office/officeart/2005/8/layout/vList2"/>
    <dgm:cxn modelId="{74998C92-F918-4257-9CAF-70B1F7D06786}" type="presParOf" srcId="{A8D21AAC-8952-4006-8D5D-5473EE0261B4}" destId="{10BF4FA9-511B-4325-A2A4-A71FEC6B76FF}" srcOrd="2" destOrd="0" presId="urn:microsoft.com/office/officeart/2005/8/layout/vList2"/>
    <dgm:cxn modelId="{8A85019F-4BEB-4DDA-A95A-151F68BFBC02}" type="presParOf" srcId="{A8D21AAC-8952-4006-8D5D-5473EE0261B4}" destId="{BE467ECD-D265-474B-AADE-C3CE44D78A76}" srcOrd="3" destOrd="0" presId="urn:microsoft.com/office/officeart/2005/8/layout/vList2"/>
    <dgm:cxn modelId="{5F1F0FCD-52FC-4343-B7C7-769AE8C98FAC}" type="presParOf" srcId="{A8D21AAC-8952-4006-8D5D-5473EE0261B4}" destId="{AB4915D2-4E0A-425C-911A-82C3C9AB06F4}" srcOrd="4" destOrd="0" presId="urn:microsoft.com/office/officeart/2005/8/layout/vList2"/>
    <dgm:cxn modelId="{F1558255-1CD5-4349-A8F0-97CC50DDD001}" type="presParOf" srcId="{A8D21AAC-8952-4006-8D5D-5473EE0261B4}" destId="{0F23EF7D-6C4C-4FAE-8963-560802F46BC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582400" cy="4114800"/>
        <a:chOff x="0" y="0"/>
        <a:chExt cx="11582400" cy="4114800"/>
      </a:xfrm>
    </dsp:grpSpPr>
    <dsp:sp modelId="{1D783BE5-E676-41FC-9EBD-6C00C0DB4CBD}">
      <dsp:nvSpPr>
        <dsp:cNvPr id="3" name="Rounded Rectangle 2"/>
        <dsp:cNvSpPr/>
      </dsp:nvSpPr>
      <dsp:spPr bwMode="white">
        <a:xfrm>
          <a:off x="0" y="46177"/>
          <a:ext cx="11582400" cy="810895"/>
        </a:xfrm>
        <a:prstGeom prst="roundRect">
          <a:avLst/>
        </a:prstGeom>
        <a:solidFill>
          <a:srgbClr val="3F8626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1920" tIns="121920" rIns="121920" bIns="121920" anchor="ctr"/>
        <a:lstStyle>
          <a:lvl1pPr algn="l">
            <a:defRPr sz="32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rPr>
            <a:t>APP</a:t>
          </a:r>
          <a:endParaRPr lang="en-US" dirty="0"/>
        </a:p>
      </dsp:txBody>
      <dsp:txXfrm>
        <a:off x="0" y="46177"/>
        <a:ext cx="11582400" cy="810895"/>
      </dsp:txXfrm>
    </dsp:sp>
    <dsp:sp modelId="{0AF63635-B619-4121-AB29-54881AF5DCDE}">
      <dsp:nvSpPr>
        <dsp:cNvPr id="4" name="Rectangle 3"/>
        <dsp:cNvSpPr/>
      </dsp:nvSpPr>
      <dsp:spPr bwMode="white">
        <a:xfrm>
          <a:off x="0" y="857072"/>
          <a:ext cx="11582400" cy="52992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67741" tIns="20320" rIns="113792" bIns="20320" anchor="t"/>
        <a:lstStyle>
          <a:lvl1pPr algn="l">
            <a:defRPr sz="32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rPr>
            <a:t>Application Layer</a:t>
          </a:r>
          <a:r>
            <a:rPr lang="ar-EG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rPr>
            <a:t> : </a:t>
          </a:r>
          <a:r>
            <a:rPr lang="en-US" sz="1600" dirty="0">
              <a:solidFill>
                <a:schemeClr val="tx1"/>
              </a:solidFill>
            </a:rPr>
            <a:t>contains the project behavior and user interaction: </a:t>
          </a:r>
          <a:r>
            <a:rPr lang="en-US" sz="1600" dirty="0" err="1">
              <a:solidFill>
                <a:schemeClr val="tx1"/>
              </a:solidFill>
            </a:rPr>
            <a:t>main.c</a:t>
          </a:r>
          <a:r>
            <a:rPr lang="en-US" sz="1600" dirty="0">
              <a:solidFill>
                <a:schemeClr val="tx1"/>
              </a:solidFill>
            </a:rPr>
            <a:t> and </a:t>
          </a:r>
          <a:r>
            <a:rPr lang="en-US" sz="1600" dirty="0" err="1">
              <a:solidFill>
                <a:schemeClr val="tx1"/>
              </a:solidFill>
            </a:rPr>
            <a:t>Climate_Logic.c</a:t>
          </a:r>
          <a:endParaRPr lang="en-US" sz="1600" dirty="0">
            <a:solidFill>
              <a:schemeClr val="tx1"/>
            </a:solidFill>
          </a:endParaRPr>
        </a:p>
      </dsp:txBody>
      <dsp:txXfrm>
        <a:off x="0" y="857072"/>
        <a:ext cx="11582400" cy="529920"/>
      </dsp:txXfrm>
    </dsp:sp>
    <dsp:sp modelId="{10BF4FA9-511B-4325-A2A4-A71FEC6B76FF}">
      <dsp:nvSpPr>
        <dsp:cNvPr id="5" name="Rounded Rectangle 4"/>
        <dsp:cNvSpPr/>
      </dsp:nvSpPr>
      <dsp:spPr bwMode="white">
        <a:xfrm>
          <a:off x="0" y="1386992"/>
          <a:ext cx="11582400" cy="810895"/>
        </a:xfrm>
        <a:prstGeom prst="roundRect">
          <a:avLst/>
        </a:prstGeom>
        <a:solidFill>
          <a:srgbClr val="31681E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1920" tIns="121920" rIns="121920" bIns="121920" anchor="ctr"/>
        <a:lstStyle>
          <a:lvl1pPr algn="l">
            <a:defRPr sz="32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rPr>
            <a:t>HAL</a:t>
          </a:r>
          <a:endParaRPr lang="en-US" dirty="0"/>
        </a:p>
      </dsp:txBody>
      <dsp:txXfrm>
        <a:off x="0" y="1386992"/>
        <a:ext cx="11582400" cy="810895"/>
      </dsp:txXfrm>
    </dsp:sp>
    <dsp:sp modelId="{BE467ECD-D265-474B-AADE-C3CE44D78A76}">
      <dsp:nvSpPr>
        <dsp:cNvPr id="6" name="Rectangle 5"/>
        <dsp:cNvSpPr/>
      </dsp:nvSpPr>
      <dsp:spPr bwMode="white">
        <a:xfrm>
          <a:off x="0" y="2197887"/>
          <a:ext cx="11582400" cy="52992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67741" tIns="20320" rIns="113792" bIns="20320" anchor="t"/>
        <a:lstStyle>
          <a:lvl1pPr algn="l">
            <a:defRPr sz="32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rPr>
            <a:t>Hardware Abstraction Layer</a:t>
          </a:r>
          <a:r>
            <a:rPr lang="ar-EG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rPr>
            <a:t> : </a:t>
          </a:r>
          <a:r>
            <a:rPr lang="en-US" sz="1600" dirty="0">
              <a:solidFill>
                <a:schemeClr val="tx1"/>
              </a:solidFill>
            </a:rPr>
            <a:t>controls external modules such as LCD, Keypad, Sensors, Relay and Buzzer</a:t>
          </a:r>
          <a:endParaRPr>
            <a:solidFill>
              <a:schemeClr val="tx1"/>
            </a:solidFill>
          </a:endParaRPr>
        </a:p>
      </dsp:txBody>
      <dsp:txXfrm>
        <a:off x="0" y="2197887"/>
        <a:ext cx="11582400" cy="529920"/>
      </dsp:txXfrm>
    </dsp:sp>
    <dsp:sp modelId="{AB4915D2-4E0A-425C-911A-82C3C9AB06F4}">
      <dsp:nvSpPr>
        <dsp:cNvPr id="7" name="Rounded Rectangle 6"/>
        <dsp:cNvSpPr/>
      </dsp:nvSpPr>
      <dsp:spPr bwMode="white">
        <a:xfrm>
          <a:off x="0" y="2727808"/>
          <a:ext cx="11582400" cy="810895"/>
        </a:xfrm>
        <a:prstGeom prst="roundRect">
          <a:avLst/>
        </a:prstGeom>
        <a:solidFill>
          <a:srgbClr val="295719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1920" tIns="121920" rIns="121920" bIns="121920" anchor="ctr"/>
        <a:lstStyle>
          <a:lvl1pPr algn="l">
            <a:defRPr sz="32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rPr>
            <a:t>MCAL</a:t>
          </a:r>
          <a:endParaRPr lang="en-US" dirty="0"/>
        </a:p>
      </dsp:txBody>
      <dsp:txXfrm>
        <a:off x="0" y="2727808"/>
        <a:ext cx="11582400" cy="810895"/>
      </dsp:txXfrm>
    </dsp:sp>
    <dsp:sp modelId="{0F23EF7D-6C4C-4FAE-8963-560802F46BCD}">
      <dsp:nvSpPr>
        <dsp:cNvPr id="8" name="Rectangle 7"/>
        <dsp:cNvSpPr/>
      </dsp:nvSpPr>
      <dsp:spPr bwMode="white">
        <a:xfrm>
          <a:off x="0" y="3538703"/>
          <a:ext cx="11582400" cy="52992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367741" tIns="20320" rIns="113792" bIns="20320" anchor="t"/>
        <a:lstStyle>
          <a:lvl1pPr algn="l">
            <a:defRPr sz="3200"/>
          </a:lvl1pPr>
          <a:lvl2pPr marL="228600" indent="-228600" algn="l">
            <a:defRPr sz="2400"/>
          </a:lvl2pPr>
          <a:lvl3pPr marL="457200" indent="-228600" algn="l">
            <a:defRPr sz="2400"/>
          </a:lvl3pPr>
          <a:lvl4pPr marL="685800" indent="-228600" algn="l">
            <a:defRPr sz="2400"/>
          </a:lvl4pPr>
          <a:lvl5pPr marL="914400" indent="-228600" algn="l">
            <a:defRPr sz="2400"/>
          </a:lvl5pPr>
          <a:lvl6pPr marL="1143000" indent="-228600" algn="l">
            <a:defRPr sz="2400"/>
          </a:lvl6pPr>
          <a:lvl7pPr marL="1371600" indent="-228600" algn="l">
            <a:defRPr sz="2400"/>
          </a:lvl7pPr>
          <a:lvl8pPr marL="1600200" indent="-228600" algn="l">
            <a:defRPr sz="2400"/>
          </a:lvl8pPr>
          <a:lvl9pPr marL="1828800" indent="-228600" algn="l">
            <a:defRPr sz="2400"/>
          </a:lvl9pPr>
        </a:lstStyle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rPr>
            <a:t>Microcontroller Abstraction Layer</a:t>
          </a:r>
          <a:r>
            <a:rPr lang="ar-EG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rPr>
            <a:t>: </a:t>
          </a:r>
          <a:r>
            <a:rPr lang="en-US" sz="1600" dirty="0">
              <a:solidFill>
                <a:schemeClr val="tx1"/>
              </a:solidFill>
            </a:rPr>
            <a:t>controls low-level peripherals: DIO, ADC, Timer0, Timer1 and Global Interrupt</a:t>
          </a:r>
          <a:r>
            <a:rPr lang="ar-EG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rPr>
            <a:t>    </a:t>
          </a:r>
          <a:endParaRPr lang="en-US" sz="1600" dirty="0">
            <a:solidFill>
              <a:schemeClr val="tx1"/>
            </a:solidFill>
          </a:endParaRPr>
        </a:p>
      </dsp:txBody>
      <dsp:txXfrm>
        <a:off x="0" y="3538703"/>
        <a:ext cx="11582400" cy="529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B78C0-71CC-43E1-805D-278539C47D0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EF192-F112-433A-8AFE-BC72C21937C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3384B-093F-49E7-B8DB-F37D4F9C9E4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73F96-0975-46A3-AD68-AF15F86281D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ctrTitle"/>
          </p:nvPr>
        </p:nvSpPr>
        <p:spPr>
          <a:xfrm>
            <a:off x="304800" y="4423471"/>
            <a:ext cx="11426843" cy="105156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b="0" i="0" cap="all" baseline="0" dirty="0">
                <a:latin typeface="+mj-lt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304800" y="5410200"/>
            <a:ext cx="11430000" cy="457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80000"/>
              </a:lnSpc>
              <a:buNone/>
              <a:defRPr lang="en-US" sz="1800" b="0" i="0" dirty="0"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381000" y="457200"/>
            <a:ext cx="11430000" cy="3426414"/>
          </a:xfrm>
          <a:prstGeom prst="roundRect">
            <a:avLst>
              <a:gd name="adj" fmla="val 0"/>
            </a:avLst>
          </a:prstGeom>
          <a:blipFill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2517758" y="4010616"/>
            <a:ext cx="9369442" cy="422171"/>
          </a:xfrm>
        </p:spPr>
        <p:txBody>
          <a:bodyPr anchor="b"/>
          <a:lstStyle>
            <a:lvl1pPr algn="r">
              <a:lnSpc>
                <a:spcPct val="80000"/>
              </a:lnSpc>
              <a:defRPr sz="1200" b="0" i="0" cap="all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304800" y="6400805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r>
              <a:rPr lang="en-US"/>
              <a:t>Footer goes here</a:t>
            </a:r>
            <a:endParaRPr lang="en-US" dirty="0">
              <a:latin typeface="+mj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19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0000" y="6400805"/>
            <a:ext cx="457201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>
              <a:latin typeface="+mj-lt"/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Placeholder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11582401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04799" y="1447799"/>
            <a:ext cx="1158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304800" y="6400805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r>
              <a:rPr lang="en-US"/>
              <a:t>Footer goes here</a:t>
            </a:r>
            <a:endParaRPr lang="en-US" dirty="0">
              <a:latin typeface="+mj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2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0000" y="6400805"/>
            <a:ext cx="457201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j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>
              <a:latin typeface="+mj-lt"/>
            </a:endParaRPr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324600" y="1673430"/>
            <a:ext cx="5486399" cy="320337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600" b="0" i="0" cap="all" baseline="0" dirty="0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6324601" y="5016502"/>
            <a:ext cx="5486400" cy="9144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00" dirty="0"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381000" y="472190"/>
            <a:ext cx="5486400" cy="5484108"/>
          </a:xfrm>
          <a:prstGeom prst="roundRect">
            <a:avLst>
              <a:gd name="adj" fmla="val 0"/>
            </a:avLst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324600" y="418240"/>
            <a:ext cx="5486400" cy="457200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304800" y="6400805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>
              <a:latin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2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0000" y="6400805"/>
            <a:ext cx="457201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>
              <a:latin typeface="+mn-lt"/>
            </a:endParaRPr>
          </a:p>
        </p:txBody>
      </p:sp>
      <p:cxnSp>
        <p:nvCxnSpPr>
          <p:cNvPr id="27" name="Straight Connector 26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781802" y="1524000"/>
            <a:ext cx="5029200" cy="2971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781798" y="5029200"/>
            <a:ext cx="5029200" cy="100329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381000" y="472190"/>
            <a:ext cx="5943600" cy="5484108"/>
          </a:xfrm>
          <a:prstGeom prst="roundRect">
            <a:avLst>
              <a:gd name="adj" fmla="val 0"/>
            </a:avLst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781798" y="418240"/>
            <a:ext cx="5029202" cy="457200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304800" y="6400805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>
              <a:latin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15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0000" y="6400805"/>
            <a:ext cx="457201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>
              <a:latin typeface="+mn-lt"/>
            </a:endParaRP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304800" y="1597230"/>
            <a:ext cx="5486399" cy="320337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600" b="0" i="0" cap="all" baseline="0" dirty="0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304799" y="5029200"/>
            <a:ext cx="5486399" cy="100329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04800" y="418240"/>
            <a:ext cx="5486400" cy="457200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6324600" y="472190"/>
            <a:ext cx="5486400" cy="5484108"/>
          </a:xfrm>
          <a:prstGeom prst="roundRect">
            <a:avLst>
              <a:gd name="adj" fmla="val 0"/>
            </a:avLst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3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304800" y="6400805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>
              <a:latin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14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0000" y="6400805"/>
            <a:ext cx="457201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>
              <a:latin typeface="+mn-lt"/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411479"/>
            <a:ext cx="10058400" cy="41148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4572000"/>
            <a:ext cx="10058400" cy="1371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304800" y="6400805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0000" y="6400805"/>
            <a:ext cx="457201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>
              <a:latin typeface="+mn-lt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600200"/>
            <a:ext cx="9140954" cy="2743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4517748"/>
            <a:ext cx="9140954" cy="1051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304800" y="6400805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0000" y="6400805"/>
            <a:ext cx="457201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>
              <a:latin typeface="+mn-lt"/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1524000"/>
            <a:ext cx="8839200" cy="2286000"/>
          </a:xfrm>
        </p:spPr>
        <p:txBody>
          <a:bodyPr anchor="b">
            <a:normAutofit/>
          </a:bodyPr>
          <a:lstStyle>
            <a:lvl1pPr algn="ctr">
              <a:defRPr sz="6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886200"/>
            <a:ext cx="7315200" cy="105156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3352801" y="418239"/>
            <a:ext cx="5486399" cy="457200"/>
          </a:xfrm>
        </p:spPr>
        <p:txBody>
          <a:bodyPr anchor="t"/>
          <a:lstStyle>
            <a:lvl1pPr algn="ctr">
              <a:lnSpc>
                <a:spcPct val="80000"/>
              </a:lnSpc>
              <a:defRPr sz="1200" b="0" i="0" cap="all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304800" y="914400"/>
            <a:ext cx="10515600" cy="57149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  <a:endParaRPr lang="en-US" dirty="0"/>
          </a:p>
        </p:txBody>
      </p:sp>
      <p:sp>
        <p:nvSpPr>
          <p:cNvPr id="14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283780" y="304800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>
              <a:latin typeface="+mn-lt"/>
            </a:endParaRPr>
          </a:p>
        </p:txBody>
      </p:sp>
      <p:sp>
        <p:nvSpPr>
          <p:cNvPr id="13" name="Date Placeholder 9"/>
          <p:cNvSpPr>
            <a:spLocks noGrp="1"/>
          </p:cNvSpPr>
          <p:nvPr>
            <p:ph type="dt" sz="half" idx="2"/>
          </p:nvPr>
        </p:nvSpPr>
        <p:spPr>
          <a:xfrm>
            <a:off x="8458200" y="304800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787F4DE7-B29E-E345-A0B0-BE13EF55C18A}" type="datetime1">
              <a:rPr lang="en-US" smtClean="0"/>
            </a:fld>
            <a:endParaRPr lang="en-US">
              <a:latin typeface="+mn-lt"/>
            </a:endParaRPr>
          </a:p>
        </p:txBody>
      </p:sp>
      <p:sp>
        <p:nvSpPr>
          <p:cNvPr id="15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9525" y="304800"/>
            <a:ext cx="457201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>
              <a:latin typeface="+mn-lt"/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81000" y="60959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4800" y="990600"/>
            <a:ext cx="10515600" cy="57149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8800" b="0" dirty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  <a:endParaRPr lang="en-US" dirty="0"/>
          </a:p>
        </p:txBody>
      </p:sp>
      <p:sp>
        <p:nvSpPr>
          <p:cNvPr id="28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283780" y="304800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>
              <a:latin typeface="+mn-lt"/>
            </a:endParaRPr>
          </a:p>
        </p:txBody>
      </p:sp>
      <p:sp>
        <p:nvSpPr>
          <p:cNvPr id="27" name="Date Placeholder 9"/>
          <p:cNvSpPr>
            <a:spLocks noGrp="1"/>
          </p:cNvSpPr>
          <p:nvPr>
            <p:ph type="dt" sz="half" idx="2"/>
          </p:nvPr>
        </p:nvSpPr>
        <p:spPr>
          <a:xfrm>
            <a:off x="8458200" y="304800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787F4DE7-B29E-E345-A0B0-BE13EF55C18A}" type="datetime1">
              <a:rPr lang="en-US" smtClean="0"/>
            </a:fld>
            <a:endParaRPr lang="en-US">
              <a:latin typeface="+mn-lt"/>
            </a:endParaRPr>
          </a:p>
        </p:txBody>
      </p:sp>
      <p:sp>
        <p:nvSpPr>
          <p:cNvPr id="29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9525" y="304800"/>
            <a:ext cx="457201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>
              <a:latin typeface="+mn-lt"/>
            </a:endParaRP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381000" y="609595"/>
            <a:ext cx="11430000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295174" y="1600200"/>
            <a:ext cx="4572000" cy="502918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283780" y="304800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>
              <a:latin typeface="+mn-lt"/>
            </a:endParaRPr>
          </a:p>
        </p:txBody>
      </p:sp>
      <p:sp>
        <p:nvSpPr>
          <p:cNvPr id="13" name="Date Placeholder 9"/>
          <p:cNvSpPr>
            <a:spLocks noGrp="1"/>
          </p:cNvSpPr>
          <p:nvPr>
            <p:ph type="dt" sz="half" idx="2"/>
          </p:nvPr>
        </p:nvSpPr>
        <p:spPr>
          <a:xfrm>
            <a:off x="8458200" y="304800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787F4DE7-B29E-E345-A0B0-BE13EF55C18A}" type="datetime1">
              <a:rPr lang="en-US" smtClean="0"/>
            </a:fld>
            <a:endParaRPr lang="en-US">
              <a:latin typeface="+mn-lt"/>
            </a:endParaRPr>
          </a:p>
        </p:txBody>
      </p:sp>
      <p:sp>
        <p:nvSpPr>
          <p:cNvPr id="20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9525" y="304800"/>
            <a:ext cx="457201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>
              <a:latin typeface="+mn-lt"/>
            </a:endParaRPr>
          </a:p>
        </p:txBody>
      </p:sp>
      <p:sp>
        <p:nvSpPr>
          <p:cNvPr id="2" name="Content Placeholder 6"/>
          <p:cNvSpPr>
            <a:spLocks noGrp="1"/>
          </p:cNvSpPr>
          <p:nvPr>
            <p:ph sz="quarter" idx="13"/>
          </p:nvPr>
        </p:nvSpPr>
        <p:spPr>
          <a:xfrm>
            <a:off x="5867400" y="1600209"/>
            <a:ext cx="5943600" cy="4800592"/>
          </a:xfr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buFont typeface="+mj-lt"/>
              <a:buAutoNum type="arabicPeriod"/>
              <a:defRPr sz="2000" b="0" i="0">
                <a:latin typeface="+mn-lt"/>
              </a:defRPr>
            </a:lvl1pPr>
            <a:lvl2pPr marL="571500" indent="-342900">
              <a:buFont typeface="+mj-lt"/>
              <a:buAutoNum type="arabicPeriod"/>
              <a:defRPr sz="1800" b="0" i="0">
                <a:latin typeface="Univers Light" panose="020B0403020202020204" pitchFamily="34" charset="0"/>
              </a:defRPr>
            </a:lvl2pPr>
            <a:lvl3pPr marL="800100" indent="-342900">
              <a:buFont typeface="+mj-lt"/>
              <a:buAutoNum type="arabicPeriod"/>
              <a:defRPr sz="1600" b="0" i="0">
                <a:latin typeface="Univers Light" panose="020B0403020202020204" pitchFamily="34" charset="0"/>
              </a:defRPr>
            </a:lvl3pPr>
            <a:lvl4pPr marL="1028700" indent="-342900">
              <a:buFont typeface="+mj-lt"/>
              <a:buAutoNum type="arabicPeriod"/>
              <a:defRPr sz="1400" b="0" i="0">
                <a:latin typeface="Univers Light" panose="020B0403020202020204" pitchFamily="34" charset="0"/>
              </a:defRPr>
            </a:lvl4pPr>
            <a:lvl5pPr>
              <a:buFont typeface="+mj-lt"/>
              <a:buAutoNum type="arabicPeriod"/>
              <a:defRPr sz="1400" b="0" i="0">
                <a:latin typeface="Univers Light" panose="020B04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81000" y="60959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199"/>
            <a:ext cx="5943600" cy="2286001"/>
          </a:xfrm>
        </p:spPr>
        <p:txBody>
          <a:bodyPr anchor="t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04800" y="2819400"/>
            <a:ext cx="5943600" cy="3213091"/>
          </a:xfrm>
        </p:spPr>
        <p:txBody>
          <a:bodyPr anchor="b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romanLcPeriod"/>
              <a:defRPr sz="1600"/>
            </a:lvl3pPr>
            <a:lvl4pPr marL="1028700" indent="-342900">
              <a:buFont typeface="+mj-lt"/>
              <a:buAutoNum type="arabicParenR"/>
              <a:defRPr sz="1400"/>
            </a:lvl4pPr>
            <a:lvl5pPr>
              <a:buFont typeface="+mj-lt"/>
              <a:buAutoNum type="romanL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6781800" y="472190"/>
            <a:ext cx="5029200" cy="5484108"/>
          </a:xfrm>
          <a:prstGeom prst="roundRect">
            <a:avLst>
              <a:gd name="adj" fmla="val 0"/>
            </a:avLst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700" y="1905000"/>
            <a:ext cx="7086600" cy="1371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467100" y="3352800"/>
            <a:ext cx="5257800" cy="1371600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>
          <a:xfrm>
            <a:off x="304800" y="6400805"/>
            <a:ext cx="2514600" cy="228595"/>
          </a:xfrm>
        </p:spPr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3429000" cy="365760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181600" y="1600200"/>
            <a:ext cx="5029200" cy="297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>
          <a:xfrm>
            <a:off x="304800" y="6400805"/>
            <a:ext cx="2514600" cy="228595"/>
          </a:xfrm>
        </p:spPr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3886200" cy="411480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181600" y="1600200"/>
            <a:ext cx="59436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1"/>
            <a:ext cx="3429000" cy="498348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181600" y="457200"/>
            <a:ext cx="6629400" cy="4983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3197354" cy="2971801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181600" y="365760"/>
            <a:ext cx="66294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9144000" y="1752600"/>
            <a:ext cx="2743200" cy="13716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381000" y="457200"/>
            <a:ext cx="8229600" cy="5486400"/>
          </a:xfrm>
          <a:blipFill>
            <a:blip r:embed="rId2">
              <a:alphaModFix amt="60000"/>
            </a:blip>
            <a:stretch>
              <a:fillRect l="79" r="-2" b="-277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9144000" y="418240"/>
            <a:ext cx="2743200" cy="457200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4" name="Content Placeholder 7"/>
          <p:cNvSpPr>
            <a:spLocks noGrp="1"/>
          </p:cNvSpPr>
          <p:nvPr>
            <p:ph sz="quarter" idx="14"/>
          </p:nvPr>
        </p:nvSpPr>
        <p:spPr>
          <a:xfrm>
            <a:off x="9144000" y="3124199"/>
            <a:ext cx="2743200" cy="274320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04800" y="1752600"/>
            <a:ext cx="2743200" cy="13716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04801" y="418240"/>
            <a:ext cx="2743199" cy="457200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Content Placeholder 7"/>
          <p:cNvSpPr>
            <a:spLocks noGrp="1"/>
          </p:cNvSpPr>
          <p:nvPr>
            <p:ph sz="quarter" idx="14"/>
          </p:nvPr>
        </p:nvSpPr>
        <p:spPr>
          <a:xfrm>
            <a:off x="304800" y="3124198"/>
            <a:ext cx="2743200" cy="2743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3581400" y="457200"/>
            <a:ext cx="8229600" cy="5486400"/>
          </a:xfrm>
          <a:blipFill>
            <a:blip r:embed="rId2">
              <a:alphaModFix amt="60000"/>
            </a:blip>
            <a:stretch>
              <a:fillRect l="79" r="-2" b="-277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0"/>
            <a:ext cx="4343400" cy="11429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04800" y="418240"/>
            <a:ext cx="4343399" cy="457200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381000" y="914399"/>
            <a:ext cx="11430000" cy="3200391"/>
          </a:xfrm>
          <a:blipFill>
            <a:blip r:embed="rId2">
              <a:alphaModFix amt="60000"/>
            </a:blip>
            <a:stretch>
              <a:fillRect t="-14283" b="-8821"/>
            </a:stretch>
          </a:blip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5181600" y="4572000"/>
            <a:ext cx="6629400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7997825" y="1371608"/>
            <a:ext cx="3889375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381000" y="457200"/>
            <a:ext cx="7086600" cy="54864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7997824" y="418240"/>
            <a:ext cx="3886200" cy="457200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Content Placeholder 7"/>
          <p:cNvSpPr>
            <a:spLocks noGrp="1"/>
          </p:cNvSpPr>
          <p:nvPr>
            <p:ph sz="quarter" idx="14"/>
          </p:nvPr>
        </p:nvSpPr>
        <p:spPr>
          <a:xfrm>
            <a:off x="8001001" y="2514600"/>
            <a:ext cx="388620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04799" y="1371608"/>
            <a:ext cx="3889375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04801" y="418240"/>
            <a:ext cx="3889373" cy="457200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Content Placeholder 7"/>
          <p:cNvSpPr>
            <a:spLocks noGrp="1"/>
          </p:cNvSpPr>
          <p:nvPr>
            <p:ph sz="quarter" idx="14"/>
          </p:nvPr>
        </p:nvSpPr>
        <p:spPr>
          <a:xfrm>
            <a:off x="307975" y="2514600"/>
            <a:ext cx="388620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4709886" y="457200"/>
            <a:ext cx="7086600" cy="54864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6858001" y="990600"/>
            <a:ext cx="5029196" cy="9144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24"/>
          </p:nvPr>
        </p:nvSpPr>
        <p:spPr>
          <a:xfrm>
            <a:off x="381000" y="457200"/>
            <a:ext cx="5943600" cy="5486400"/>
          </a:xfrm>
          <a:blipFill>
            <a:blip r:embed="rId2">
              <a:alphaModFix amt="60000"/>
            </a:blip>
            <a:stretch>
              <a:fillRect l="1" r="-5291" b="-1389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6857996" y="418240"/>
            <a:ext cx="5029198" cy="457200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4" name="Content Placeholder 7"/>
          <p:cNvSpPr>
            <a:spLocks noGrp="1"/>
          </p:cNvSpPr>
          <p:nvPr>
            <p:ph sz="quarter" idx="14"/>
          </p:nvPr>
        </p:nvSpPr>
        <p:spPr>
          <a:xfrm>
            <a:off x="6858000" y="1905000"/>
            <a:ext cx="5029195" cy="4114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04800" y="990600"/>
            <a:ext cx="5029196" cy="9144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04800" y="418240"/>
            <a:ext cx="5029194" cy="457200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Content Placeholder 7"/>
          <p:cNvSpPr>
            <a:spLocks noGrp="1"/>
          </p:cNvSpPr>
          <p:nvPr>
            <p:ph sz="quarter" idx="14"/>
          </p:nvPr>
        </p:nvSpPr>
        <p:spPr>
          <a:xfrm>
            <a:off x="304799" y="1905000"/>
            <a:ext cx="5029195" cy="4114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Picture Placeholder 20"/>
          <p:cNvSpPr>
            <a:spLocks noGrp="1"/>
          </p:cNvSpPr>
          <p:nvPr>
            <p:ph type="pic" sz="quarter" idx="24"/>
          </p:nvPr>
        </p:nvSpPr>
        <p:spPr>
          <a:xfrm>
            <a:off x="5867400" y="457200"/>
            <a:ext cx="5943600" cy="5486400"/>
          </a:xfrm>
          <a:blipFill>
            <a:blip r:embed="rId2">
              <a:alphaModFix amt="60000"/>
            </a:blip>
            <a:stretch>
              <a:fillRect l="1" r="-5291" b="-1389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0" y="3831676"/>
            <a:ext cx="3429000" cy="182879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04800" y="418240"/>
            <a:ext cx="11506200" cy="457200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381000" y="916158"/>
            <a:ext cx="11430000" cy="2330455"/>
          </a:xfrm>
          <a:blipFill>
            <a:blip r:embed="rId2">
              <a:alphaModFix amt="60000"/>
            </a:blip>
            <a:stretch>
              <a:fillRect t="-23318" b="-3327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/>
          <p:cNvSpPr>
            <a:spLocks noGrp="1"/>
          </p:cNvSpPr>
          <p:nvPr>
            <p:ph sz="quarter" idx="14"/>
          </p:nvPr>
        </p:nvSpPr>
        <p:spPr>
          <a:xfrm>
            <a:off x="4343400" y="3831676"/>
            <a:ext cx="7543800" cy="2057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04802" y="990600"/>
            <a:ext cx="3967480" cy="1295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283780" y="304800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>
              <a:latin typeface="+mn-lt"/>
            </a:endParaRPr>
          </a:p>
        </p:txBody>
      </p:sp>
      <p:sp>
        <p:nvSpPr>
          <p:cNvPr id="13" name="Date Placeholder 9"/>
          <p:cNvSpPr>
            <a:spLocks noGrp="1"/>
          </p:cNvSpPr>
          <p:nvPr>
            <p:ph type="dt" sz="half" idx="2"/>
          </p:nvPr>
        </p:nvSpPr>
        <p:spPr>
          <a:xfrm>
            <a:off x="8458200" y="304800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787F4DE7-B29E-E345-A0B0-BE13EF55C18A}" type="datetime1">
              <a:rPr lang="en-US" smtClean="0"/>
            </a:fld>
            <a:endParaRPr lang="en-US">
              <a:latin typeface="+mn-lt"/>
            </a:endParaRPr>
          </a:p>
        </p:txBody>
      </p:sp>
      <p:sp>
        <p:nvSpPr>
          <p:cNvPr id="15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9525" y="304800"/>
            <a:ext cx="457201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>
              <a:latin typeface="+mn-lt"/>
            </a:endParaRPr>
          </a:p>
        </p:txBody>
      </p:sp>
      <p:sp>
        <p:nvSpPr>
          <p:cNvPr id="17" name="Content Placeholder 7"/>
          <p:cNvSpPr>
            <a:spLocks noGrp="1"/>
          </p:cNvSpPr>
          <p:nvPr>
            <p:ph sz="quarter" idx="14"/>
          </p:nvPr>
        </p:nvSpPr>
        <p:spPr>
          <a:xfrm>
            <a:off x="4343400" y="989152"/>
            <a:ext cx="7543800" cy="2057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381000" y="3657600"/>
            <a:ext cx="11430000" cy="2330450"/>
          </a:xfrm>
          <a:blipFill>
            <a:blip r:embed="rId2">
              <a:alphaModFix amt="60000"/>
            </a:blip>
            <a:stretch>
              <a:fillRect t="-5605" b="-21039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04800" y="6248400"/>
            <a:ext cx="11506200" cy="457200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81000" y="60959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5714999" y="1371600"/>
            <a:ext cx="6172201" cy="9144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24"/>
          </p:nvPr>
        </p:nvSpPr>
        <p:spPr>
          <a:xfrm>
            <a:off x="381000" y="457200"/>
            <a:ext cx="4800600" cy="54864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714998" y="418240"/>
            <a:ext cx="6172199" cy="365757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Content Placeholder 7"/>
          <p:cNvSpPr>
            <a:spLocks noGrp="1"/>
          </p:cNvSpPr>
          <p:nvPr>
            <p:ph sz="quarter" idx="14"/>
          </p:nvPr>
        </p:nvSpPr>
        <p:spPr>
          <a:xfrm>
            <a:off x="5715001" y="2340202"/>
            <a:ext cx="617220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304800" y="1371600"/>
            <a:ext cx="6172201" cy="9144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04800" y="418240"/>
            <a:ext cx="6172200" cy="365759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Content Placeholder 7"/>
          <p:cNvSpPr>
            <a:spLocks noGrp="1"/>
          </p:cNvSpPr>
          <p:nvPr>
            <p:ph sz="quarter" idx="14"/>
          </p:nvPr>
        </p:nvSpPr>
        <p:spPr>
          <a:xfrm>
            <a:off x="304802" y="2340202"/>
            <a:ext cx="617220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Picture Placeholder 17"/>
          <p:cNvSpPr>
            <a:spLocks noGrp="1"/>
          </p:cNvSpPr>
          <p:nvPr>
            <p:ph type="pic" sz="quarter" idx="24"/>
          </p:nvPr>
        </p:nvSpPr>
        <p:spPr>
          <a:xfrm>
            <a:off x="7010400" y="457200"/>
            <a:ext cx="4800600" cy="54864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304800" y="990601"/>
            <a:ext cx="11582399" cy="6858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304800" y="418239"/>
            <a:ext cx="11582401" cy="267561"/>
          </a:xfrm>
        </p:spPr>
        <p:txBody>
          <a:bodyPr anchor="t"/>
          <a:lstStyle>
            <a:lvl1pPr algn="r">
              <a:lnSpc>
                <a:spcPct val="80000"/>
              </a:lnSpc>
              <a:defRPr sz="1200" b="0" i="0" cap="all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304800" y="1905008"/>
            <a:ext cx="489204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25"/>
          </p:nvPr>
        </p:nvSpPr>
        <p:spPr>
          <a:xfrm>
            <a:off x="5638800" y="1905007"/>
            <a:ext cx="6172200" cy="411479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4800" y="990601"/>
            <a:ext cx="11582399" cy="6858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304800" y="418239"/>
            <a:ext cx="11582401" cy="267561"/>
          </a:xfrm>
        </p:spPr>
        <p:txBody>
          <a:bodyPr anchor="t"/>
          <a:lstStyle>
            <a:lvl1pPr algn="r">
              <a:lnSpc>
                <a:spcPct val="80000"/>
              </a:lnSpc>
              <a:defRPr sz="1200" b="0" i="0" cap="all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Content Placeholder 7"/>
          <p:cNvSpPr>
            <a:spLocks noGrp="1"/>
          </p:cNvSpPr>
          <p:nvPr>
            <p:ph sz="quarter" idx="18"/>
          </p:nvPr>
        </p:nvSpPr>
        <p:spPr>
          <a:xfrm>
            <a:off x="304800" y="1905008"/>
            <a:ext cx="4114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18"/>
          <p:cNvSpPr>
            <a:spLocks noGrp="1"/>
          </p:cNvSpPr>
          <p:nvPr>
            <p:ph type="pic" sz="quarter" idx="25"/>
          </p:nvPr>
        </p:nvSpPr>
        <p:spPr>
          <a:xfrm>
            <a:off x="4953000" y="1905007"/>
            <a:ext cx="6858000" cy="4114795"/>
          </a:xfrm>
          <a:blipFill>
            <a:blip r:embed="rId2">
              <a:alphaModFix amt="60000"/>
            </a:blip>
            <a:stretch>
              <a:fillRect t="-1" b="-714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04800" y="990601"/>
            <a:ext cx="11582399" cy="6858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304800" y="418240"/>
            <a:ext cx="11582398" cy="365759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Picture Placeholder 18"/>
          <p:cNvSpPr>
            <a:spLocks noGrp="1"/>
          </p:cNvSpPr>
          <p:nvPr>
            <p:ph type="pic" sz="quarter" idx="25"/>
          </p:nvPr>
        </p:nvSpPr>
        <p:spPr>
          <a:xfrm>
            <a:off x="381000" y="1905007"/>
            <a:ext cx="6172200" cy="411479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7" name="Content Placeholder 7"/>
          <p:cNvSpPr>
            <a:spLocks noGrp="1"/>
          </p:cNvSpPr>
          <p:nvPr>
            <p:ph sz="quarter" idx="14"/>
          </p:nvPr>
        </p:nvSpPr>
        <p:spPr>
          <a:xfrm>
            <a:off x="6995159" y="1905008"/>
            <a:ext cx="489204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4800605" y="990600"/>
            <a:ext cx="7086598" cy="7772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Picture Placeholder 14"/>
          <p:cNvSpPr>
            <a:spLocks noGrp="1"/>
          </p:cNvSpPr>
          <p:nvPr>
            <p:ph type="pic" sz="quarter" idx="24"/>
          </p:nvPr>
        </p:nvSpPr>
        <p:spPr>
          <a:xfrm>
            <a:off x="381000" y="457200"/>
            <a:ext cx="3886200" cy="5486400"/>
          </a:xfrm>
          <a:blipFill>
            <a:blip r:embed="rId2">
              <a:alphaModFix amt="60000"/>
            </a:blip>
            <a:stretch>
              <a:fillRect l="-4227" r="-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4800603" y="418240"/>
            <a:ext cx="7086597" cy="365759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Content Placeholder 7"/>
          <p:cNvSpPr>
            <a:spLocks noGrp="1"/>
          </p:cNvSpPr>
          <p:nvPr>
            <p:ph sz="quarter" idx="14"/>
          </p:nvPr>
        </p:nvSpPr>
        <p:spPr>
          <a:xfrm>
            <a:off x="4800604" y="1828806"/>
            <a:ext cx="7086599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304801" y="990600"/>
            <a:ext cx="7086598" cy="7772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04800" y="418240"/>
            <a:ext cx="7086596" cy="365759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Content Placeholder 7"/>
          <p:cNvSpPr>
            <a:spLocks noGrp="1"/>
          </p:cNvSpPr>
          <p:nvPr>
            <p:ph sz="quarter" idx="14"/>
          </p:nvPr>
        </p:nvSpPr>
        <p:spPr>
          <a:xfrm>
            <a:off x="304800" y="1828806"/>
            <a:ext cx="7086599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14"/>
          <p:cNvSpPr>
            <a:spLocks noGrp="1"/>
          </p:cNvSpPr>
          <p:nvPr>
            <p:ph type="pic" sz="quarter" idx="24"/>
          </p:nvPr>
        </p:nvSpPr>
        <p:spPr>
          <a:xfrm>
            <a:off x="7924800" y="457200"/>
            <a:ext cx="3886200" cy="5486400"/>
          </a:xfrm>
          <a:blipFill>
            <a:blip r:embed="rId2">
              <a:alphaModFix amt="60000"/>
            </a:blip>
            <a:stretch>
              <a:fillRect l="-4227" r="-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801" y="990600"/>
            <a:ext cx="5029201" cy="91312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04798" y="418240"/>
            <a:ext cx="7086601" cy="365758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24"/>
          </p:nvPr>
        </p:nvSpPr>
        <p:spPr>
          <a:xfrm>
            <a:off x="380999" y="2110324"/>
            <a:ext cx="4953003" cy="3833276"/>
          </a:xfrm>
          <a:blipFill>
            <a:blip r:embed="rId2">
              <a:alphaModFix amt="60000"/>
            </a:blip>
            <a:stretch>
              <a:fillRect r="-2" b="-12875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5943599" y="990601"/>
            <a:ext cx="59436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04802" y="990600"/>
            <a:ext cx="3967480" cy="1295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04800" y="418240"/>
            <a:ext cx="3967480" cy="365759"/>
          </a:xfrm>
        </p:spPr>
        <p:txBody>
          <a:bodyPr/>
          <a:lstStyle>
            <a:lvl1pPr>
              <a:lnSpc>
                <a:spcPct val="80000"/>
              </a:lnSpc>
              <a:defRPr sz="1200" cap="all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Picture Placeholder 14"/>
          <p:cNvSpPr>
            <a:spLocks noGrp="1"/>
          </p:cNvSpPr>
          <p:nvPr>
            <p:ph type="pic" sz="quarter" idx="24"/>
          </p:nvPr>
        </p:nvSpPr>
        <p:spPr>
          <a:xfrm>
            <a:off x="380999" y="2492600"/>
            <a:ext cx="3891283" cy="3450999"/>
          </a:xfrm>
          <a:blipFill>
            <a:blip r:embed="rId2">
              <a:alphaModFix amt="60000"/>
            </a:blip>
            <a:stretch>
              <a:fillRect r="-2" b="-12875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4" name="Content Placeholder 7"/>
          <p:cNvSpPr>
            <a:spLocks noGrp="1"/>
          </p:cNvSpPr>
          <p:nvPr>
            <p:ph sz="quarter" idx="14"/>
          </p:nvPr>
        </p:nvSpPr>
        <p:spPr>
          <a:xfrm>
            <a:off x="4914899" y="990601"/>
            <a:ext cx="7086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1" y="4724400"/>
            <a:ext cx="7315200" cy="914400"/>
          </a:xfrm>
        </p:spPr>
        <p:txBody>
          <a:bodyPr/>
          <a:lstStyle>
            <a:lvl1pPr>
              <a:lnSpc>
                <a:spcPct val="110000"/>
              </a:lnSpc>
              <a:defRPr sz="22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7" hasCustomPrompt="1"/>
          </p:nvPr>
        </p:nvSpPr>
        <p:spPr>
          <a:xfrm>
            <a:off x="304800" y="990600"/>
            <a:ext cx="10972800" cy="4114800"/>
          </a:xfrm>
        </p:spPr>
        <p:txBody>
          <a:bodyPr anchor="b"/>
          <a:lstStyle>
            <a:lvl1pPr>
              <a:defRPr sz="30000" spc="300" baseline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04800" y="4724400"/>
            <a:ext cx="7543801" cy="914400"/>
          </a:xfrm>
        </p:spPr>
        <p:txBody>
          <a:bodyPr anchor="b"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/>
          <p:cNvSpPr>
            <a:spLocks noGrp="1"/>
          </p:cNvSpPr>
          <p:nvPr>
            <p:ph sz="quarter" idx="18" hasCustomPrompt="1"/>
          </p:nvPr>
        </p:nvSpPr>
        <p:spPr>
          <a:xfrm>
            <a:off x="228600" y="381000"/>
            <a:ext cx="10439400" cy="4190996"/>
          </a:xfrm>
        </p:spPr>
        <p:txBody>
          <a:bodyPr anchor="ctr"/>
          <a:lstStyle>
            <a:lvl1pPr>
              <a:lnSpc>
                <a:spcPct val="90000"/>
              </a:lnSpc>
              <a:defRPr sz="33000" spc="3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1" y="5562600"/>
            <a:ext cx="7315200" cy="914400"/>
          </a:xfrm>
        </p:spPr>
        <p:txBody>
          <a:bodyPr anchor="b"/>
          <a:lstStyle>
            <a:lvl1pPr>
              <a:defRPr sz="2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283780" y="304800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>
              <a:latin typeface="+mn-lt"/>
            </a:endParaRPr>
          </a:p>
        </p:txBody>
      </p:sp>
      <p:sp>
        <p:nvSpPr>
          <p:cNvPr id="17" name="Date Placeholder 9"/>
          <p:cNvSpPr>
            <a:spLocks noGrp="1"/>
          </p:cNvSpPr>
          <p:nvPr>
            <p:ph type="dt" sz="half" idx="2"/>
          </p:nvPr>
        </p:nvSpPr>
        <p:spPr>
          <a:xfrm>
            <a:off x="8458200" y="304800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787F4DE7-B29E-E345-A0B0-BE13EF55C18A}" type="datetime1">
              <a:rPr lang="en-US" smtClean="0"/>
            </a:fld>
            <a:endParaRPr lang="en-US">
              <a:latin typeface="+mn-lt"/>
            </a:endParaRPr>
          </a:p>
        </p:txBody>
      </p:sp>
      <p:sp>
        <p:nvSpPr>
          <p:cNvPr id="19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9525" y="304800"/>
            <a:ext cx="457201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>
              <a:latin typeface="+mn-lt"/>
            </a:endParaRPr>
          </a:p>
        </p:txBody>
      </p:sp>
      <p:sp>
        <p:nvSpPr>
          <p:cNvPr id="4" name="Content Placeholder 12"/>
          <p:cNvSpPr>
            <a:spLocks noGrp="1"/>
          </p:cNvSpPr>
          <p:nvPr>
            <p:ph sz="quarter" idx="17" hasCustomPrompt="1"/>
          </p:nvPr>
        </p:nvSpPr>
        <p:spPr>
          <a:xfrm>
            <a:off x="304800" y="685795"/>
            <a:ext cx="10972800" cy="5257779"/>
          </a:xfrm>
        </p:spPr>
        <p:txBody>
          <a:bodyPr anchor="b"/>
          <a:lstStyle>
            <a:lvl1pPr>
              <a:defRPr sz="30000" spc="300" baseline="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  <a:endParaRPr lang="en-US" dirty="0"/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381000" y="60959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4724400"/>
            <a:ext cx="7315200" cy="91440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2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609600" y="990600"/>
            <a:ext cx="10972800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30000" b="1" i="0" spc="300">
                <a:ln w="6350">
                  <a:solidFill>
                    <a:schemeClr val="accent6"/>
                  </a:solidFill>
                </a:ln>
                <a:noFill/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04798" y="304800"/>
            <a:ext cx="10972800" cy="57150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0">
                <a:solidFill>
                  <a:schemeClr val="accent6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0">
                <a:solidFill>
                  <a:schemeClr val="accent6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0">
                <a:solidFill>
                  <a:schemeClr val="accent6"/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0">
                <a:solidFill>
                  <a:schemeClr val="accent6"/>
                </a:solidFill>
              </a:defRPr>
            </a:lvl4pPr>
            <a:lvl5pPr marL="914400" indent="0">
              <a:lnSpc>
                <a:spcPct val="90000"/>
              </a:lnSpc>
              <a:buNone/>
              <a:defRPr sz="5400"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04800" y="232013"/>
            <a:ext cx="10058400" cy="54864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7200" b="0" cap="none" baseline="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0" cap="none" baseline="0">
                <a:solidFill>
                  <a:schemeClr val="tx1"/>
                </a:solidFill>
              </a:defRPr>
            </a:lvl2pPr>
            <a:lvl3pPr marL="457200" indent="0">
              <a:lnSpc>
                <a:spcPct val="90000"/>
              </a:lnSpc>
              <a:buNone/>
              <a:defRPr sz="7200" b="0" cap="none" baseline="0">
                <a:solidFill>
                  <a:schemeClr val="tx1"/>
                </a:solidFill>
              </a:defRPr>
            </a:lvl3pPr>
            <a:lvl4pPr marL="685800" indent="0">
              <a:lnSpc>
                <a:spcPct val="90000"/>
              </a:lnSpc>
              <a:buNone/>
              <a:defRPr sz="7200" b="0" cap="none" baseline="0">
                <a:solidFill>
                  <a:schemeClr val="tx1"/>
                </a:solidFill>
              </a:defRPr>
            </a:lvl4pPr>
            <a:lvl5pPr marL="914400" indent="0">
              <a:lnSpc>
                <a:spcPct val="90000"/>
              </a:lnSpc>
              <a:buNone/>
              <a:defRPr sz="7200" b="0" cap="none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283780" y="304800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>
              <a:latin typeface="+mn-lt"/>
            </a:endParaRPr>
          </a:p>
        </p:txBody>
      </p:sp>
      <p:sp>
        <p:nvSpPr>
          <p:cNvPr id="16" name="Date Placeholder 9"/>
          <p:cNvSpPr>
            <a:spLocks noGrp="1"/>
          </p:cNvSpPr>
          <p:nvPr>
            <p:ph type="dt" sz="half" idx="2"/>
          </p:nvPr>
        </p:nvSpPr>
        <p:spPr>
          <a:xfrm>
            <a:off x="8458200" y="304800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787F4DE7-B29E-E345-A0B0-BE13EF55C18A}" type="datetime1">
              <a:rPr lang="en-US" smtClean="0"/>
            </a:fld>
            <a:endParaRPr lang="en-US">
              <a:latin typeface="+mn-lt"/>
            </a:endParaRPr>
          </a:p>
        </p:txBody>
      </p:sp>
      <p:sp>
        <p:nvSpPr>
          <p:cNvPr id="18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9525" y="304800"/>
            <a:ext cx="457201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>
              <a:latin typeface="+mn-lt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04800" y="914400"/>
            <a:ext cx="9829800" cy="5714999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7200" b="0" cap="none" baseline="0">
                <a:solidFill>
                  <a:schemeClr val="accent6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0" cap="none" baseline="0">
                <a:solidFill>
                  <a:schemeClr val="accent6"/>
                </a:solidFill>
              </a:defRPr>
            </a:lvl2pPr>
            <a:lvl3pPr marL="457200" indent="0">
              <a:lnSpc>
                <a:spcPct val="90000"/>
              </a:lnSpc>
              <a:buNone/>
              <a:defRPr sz="7200" b="0" cap="none" baseline="0">
                <a:solidFill>
                  <a:schemeClr val="accent6"/>
                </a:solidFill>
              </a:defRPr>
            </a:lvl3pPr>
            <a:lvl4pPr marL="685800" indent="0">
              <a:lnSpc>
                <a:spcPct val="90000"/>
              </a:lnSpc>
              <a:buNone/>
              <a:defRPr sz="7200" b="0" cap="none" baseline="0">
                <a:solidFill>
                  <a:schemeClr val="accent6"/>
                </a:solidFill>
              </a:defRPr>
            </a:lvl4pPr>
            <a:lvl5pPr marL="914400" indent="0">
              <a:lnSpc>
                <a:spcPct val="90000"/>
              </a:lnSpc>
              <a:buNone/>
              <a:defRPr sz="7200" b="0" cap="none" baseline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381000" y="609595"/>
            <a:ext cx="11430000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066800" y="685800"/>
            <a:ext cx="10058400" cy="54864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lang="en-US" sz="7200" b="0" dirty="0"/>
            </a:lvl1pPr>
            <a:lvl2pPr marL="228600" indent="0" algn="ctr">
              <a:lnSpc>
                <a:spcPct val="90000"/>
              </a:lnSpc>
              <a:buNone/>
              <a:defRPr lang="en-US" sz="7200" b="0" dirty="0"/>
            </a:lvl2pPr>
            <a:lvl3pPr marL="457200" indent="0" algn="ctr">
              <a:lnSpc>
                <a:spcPct val="90000"/>
              </a:lnSpc>
              <a:buNone/>
              <a:defRPr lang="en-US" sz="7200" b="0" dirty="0"/>
            </a:lvl3pPr>
            <a:lvl4pPr marL="685800" indent="0" algn="ctr">
              <a:lnSpc>
                <a:spcPct val="90000"/>
              </a:lnSpc>
              <a:buNone/>
              <a:defRPr lang="en-US" sz="7200" b="0" dirty="0"/>
            </a:lvl4pPr>
            <a:lvl5pPr marL="914400" indent="0" algn="ctr">
              <a:lnSpc>
                <a:spcPct val="90000"/>
              </a:lnSpc>
              <a:buNone/>
              <a:defRPr lang="en-US" sz="7200" b="0" dirty="0"/>
            </a:lvl5pPr>
          </a:lstStyle>
          <a:p>
            <a:pPr lvl="0"/>
            <a:r>
              <a:rPr lang="en-US" dirty="0"/>
              <a:t>Click to add Statement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04801" y="4236720"/>
            <a:ext cx="5922579" cy="777240"/>
          </a:xfrm>
        </p:spPr>
        <p:txBody>
          <a:bodyPr anchor="ctr"/>
          <a:lstStyle>
            <a:lvl1pPr>
              <a:lnSpc>
                <a:spcPct val="120000"/>
              </a:lnSpc>
              <a:defRPr sz="2000">
                <a:latin typeface="+mn-lt"/>
              </a:defRPr>
            </a:lvl1pPr>
          </a:lstStyle>
          <a:p>
            <a:r>
              <a:rPr lang="en-US" dirty="0"/>
              <a:t>Quote Author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8" hasCustomPrompt="1"/>
          </p:nvPr>
        </p:nvSpPr>
        <p:spPr>
          <a:xfrm>
            <a:off x="283780" y="228599"/>
            <a:ext cx="8686800" cy="3383279"/>
          </a:xfrm>
        </p:spPr>
        <p:txBody>
          <a:bodyPr anchor="b"/>
          <a:lstStyle>
            <a:lvl1pPr>
              <a:defRPr sz="5600">
                <a:solidFill>
                  <a:schemeClr val="accent6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04801" y="5257798"/>
            <a:ext cx="5922580" cy="777241"/>
          </a:xfrm>
        </p:spPr>
        <p:txBody>
          <a:bodyPr anchor="ctr"/>
          <a:lstStyle>
            <a:lvl1pPr>
              <a:lnSpc>
                <a:spcPct val="120000"/>
              </a:lnSpc>
              <a:defRPr sz="20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  <a:endParaRPr lang="en-US" dirty="0"/>
          </a:p>
        </p:txBody>
      </p:sp>
      <p:sp>
        <p:nvSpPr>
          <p:cNvPr id="15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283780" y="304800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>
              <a:latin typeface="+mn-lt"/>
            </a:endParaRPr>
          </a:p>
        </p:txBody>
      </p:sp>
      <p:sp>
        <p:nvSpPr>
          <p:cNvPr id="14" name="Date Placeholder 9"/>
          <p:cNvSpPr>
            <a:spLocks noGrp="1"/>
          </p:cNvSpPr>
          <p:nvPr>
            <p:ph type="dt" sz="half" idx="2"/>
          </p:nvPr>
        </p:nvSpPr>
        <p:spPr>
          <a:xfrm>
            <a:off x="8458200" y="304800"/>
            <a:ext cx="2514600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787F4DE7-B29E-E345-A0B0-BE13EF55C18A}" type="datetime1">
              <a:rPr lang="en-US" smtClean="0"/>
            </a:fld>
            <a:endParaRPr lang="en-US">
              <a:latin typeface="+mn-lt"/>
            </a:endParaRPr>
          </a:p>
        </p:txBody>
      </p:sp>
      <p:sp>
        <p:nvSpPr>
          <p:cNvPr id="16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9525" y="304800"/>
            <a:ext cx="457201" cy="228595"/>
          </a:xfrm>
          <a:prstGeom prst="rect">
            <a:avLst/>
          </a:prstGeom>
        </p:spPr>
        <p:txBody>
          <a:bodyPr anchor="b"/>
          <a:lstStyle>
            <a:lvl1pPr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>
              <a:latin typeface="+mn-lt"/>
            </a:endParaRPr>
          </a:p>
        </p:txBody>
      </p:sp>
      <p:sp>
        <p:nvSpPr>
          <p:cNvPr id="3" name="Content Placeholder 16"/>
          <p:cNvSpPr>
            <a:spLocks noGrp="1"/>
          </p:cNvSpPr>
          <p:nvPr>
            <p:ph sz="quarter" idx="18" hasCustomPrompt="1"/>
          </p:nvPr>
        </p:nvSpPr>
        <p:spPr>
          <a:xfrm>
            <a:off x="283780" y="1249681"/>
            <a:ext cx="8686800" cy="3383279"/>
          </a:xfrm>
        </p:spPr>
        <p:txBody>
          <a:bodyPr anchor="b"/>
          <a:lstStyle>
            <a:lvl1pPr>
              <a:defRPr sz="5600">
                <a:solidFill>
                  <a:schemeClr val="tx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81000" y="60959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95800" y="4724400"/>
            <a:ext cx="5943600" cy="77724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2000" b="0" i="0" spc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752600" y="579120"/>
            <a:ext cx="8686800" cy="3383280"/>
          </a:xfrm>
        </p:spPr>
        <p:txBody>
          <a:bodyPr anchor="b">
            <a:normAutofit/>
          </a:bodyPr>
          <a:lstStyle>
            <a:lvl1pPr marL="164465" indent="-164465">
              <a:lnSpc>
                <a:spcPct val="90000"/>
              </a:lnSpc>
              <a:spcBef>
                <a:spcPts val="0"/>
              </a:spcBef>
              <a:buNone/>
              <a:defRPr sz="5600" b="0" i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95800" y="4724400"/>
            <a:ext cx="5943600" cy="77724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2000" b="0" i="0" spc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752600" y="579120"/>
            <a:ext cx="8686800" cy="3383280"/>
          </a:xfrm>
        </p:spPr>
        <p:txBody>
          <a:bodyPr anchor="b">
            <a:normAutofit/>
          </a:bodyPr>
          <a:lstStyle>
            <a:lvl1pPr marL="164465" indent="-164465">
              <a:lnSpc>
                <a:spcPct val="90000"/>
              </a:lnSpc>
              <a:spcBef>
                <a:spcPts val="0"/>
              </a:spcBef>
              <a:buNone/>
              <a:defRPr sz="5600" b="0" i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9829800" cy="2057400"/>
          </a:xfrm>
        </p:spPr>
        <p:txBody>
          <a:bodyPr anchor="t">
            <a:normAutofit/>
          </a:bodyPr>
          <a:lstStyle>
            <a:lvl1pPr>
              <a:defRPr sz="7200">
                <a:solidFill>
                  <a:schemeClr val="accent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04799" y="2971802"/>
            <a:ext cx="9829801" cy="29718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600200"/>
            <a:ext cx="8226553" cy="1828800"/>
          </a:xfrm>
        </p:spPr>
        <p:txBody>
          <a:bodyPr anchor="b">
            <a:noAutofit/>
          </a:bodyPr>
          <a:lstStyle>
            <a:lvl1pPr>
              <a:defRPr sz="7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304928" y="3611880"/>
            <a:ext cx="8226425" cy="164592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11582401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304800" y="1600200"/>
            <a:ext cx="534924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6"/>
          </p:nvPr>
        </p:nvSpPr>
        <p:spPr>
          <a:xfrm>
            <a:off x="6539254" y="1600200"/>
            <a:ext cx="534924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11582401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24000"/>
            <a:ext cx="5349240" cy="54864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0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>
          <a:xfrm>
            <a:off x="304800" y="2225040"/>
            <a:ext cx="5349240" cy="3794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7960" y="1524000"/>
            <a:ext cx="5349240" cy="54864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0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6"/>
          </p:nvPr>
        </p:nvSpPr>
        <p:spPr>
          <a:xfrm>
            <a:off x="6537960" y="2225040"/>
            <a:ext cx="5349240" cy="3794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11582401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304801" y="457198"/>
            <a:ext cx="4114800" cy="1828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1" y="2514600"/>
            <a:ext cx="4114800" cy="34290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4365" y="457200"/>
            <a:ext cx="6858000" cy="548639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04801" y="457198"/>
            <a:ext cx="4114800" cy="1828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1" y="2514600"/>
            <a:ext cx="4114800" cy="3429000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5029200" y="457198"/>
            <a:ext cx="6858000" cy="54864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81000" y="6324605"/>
            <a:ext cx="11430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6" Type="http://schemas.openxmlformats.org/officeDocument/2006/relationships/theme" Target="../theme/theme1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11582401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24007"/>
            <a:ext cx="11582400" cy="4571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304800" y="6400805"/>
            <a:ext cx="2514600" cy="228595"/>
          </a:xfrm>
          <a:prstGeom prst="rect">
            <a:avLst/>
          </a:prstGeom>
        </p:spPr>
        <p:txBody>
          <a:bodyPr anchor="b"/>
          <a:lstStyle>
            <a:lvl1pPr algn="l" rtl="0"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Footer goes here</a:t>
            </a:r>
            <a:endParaRPr lang="en-US" dirty="0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2"/>
          </p:nvPr>
        </p:nvSpPr>
        <p:spPr>
          <a:xfrm>
            <a:off x="8458200" y="6400805"/>
            <a:ext cx="2514600" cy="228595"/>
          </a:xfrm>
          <a:prstGeom prst="rect">
            <a:avLst/>
          </a:prstGeom>
        </p:spPr>
        <p:txBody>
          <a:bodyPr anchor="b"/>
          <a:lstStyle>
            <a:lvl1pPr algn="r" rtl="0"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787F4DE7-B29E-E345-A0B0-BE13EF55C18A}" type="datetime1">
              <a:rPr lang="en-US" smtClean="0"/>
            </a:fld>
            <a:endParaRPr lang="en-US"/>
          </a:p>
        </p:txBody>
      </p:sp>
      <p:sp>
        <p:nvSpPr>
          <p:cNvPr id="7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11430000" y="6400805"/>
            <a:ext cx="457201" cy="228595"/>
          </a:xfrm>
          <a:prstGeom prst="rect">
            <a:avLst/>
          </a:prstGeom>
        </p:spPr>
        <p:txBody>
          <a:bodyPr anchor="b"/>
          <a:lstStyle>
            <a:lvl1pPr algn="r" rtl="0">
              <a:defRPr sz="800" b="0" i="0" cap="all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fld id="{FD550D4C-7310-48EB-AB4A-11C1BDEC928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i="0" kern="1200" cap="all" spc="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Aptos Serif" panose="0202060407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04800" y="4556763"/>
            <a:ext cx="11426843" cy="1051560"/>
          </a:xfrm>
        </p:spPr>
        <p:txBody>
          <a:bodyPr>
            <a:normAutofit fontScale="90000"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Greenhouse Climate</a:t>
            </a:r>
            <a:b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5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Control System</a:t>
            </a:r>
            <a:endParaRPr lang="en-US" sz="5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04800" y="5445229"/>
            <a:ext cx="11430000" cy="762000"/>
          </a:xfrm>
        </p:spPr>
        <p:txBody>
          <a:bodyPr>
            <a:normAutofit fontScale="62500" lnSpcReduction="20000"/>
          </a:bodyPr>
          <a:lstStyle/>
          <a:p>
            <a:endParaRPr lang="en-US" sz="26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monitoring and control of temperature and soil moisture for a small-scale greenhouse.</a:t>
            </a:r>
            <a:endParaRPr lang="en-US" sz="26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endParaRPr lang="en-US" sz="2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4   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Sama Mohamed Mahmoud  ·  Aseel Muhammed </a:t>
            </a:r>
            <a:r>
              <a:rPr lang="en-US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Elsayed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·  Khaled Mohamed Ahmed  ·  Mohamed </a:t>
            </a:r>
            <a:r>
              <a:rPr lang="en-US"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Sedeek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Mohamed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3" name="Text Placeholder 182"/>
          <p:cNvSpPr>
            <a:spLocks noGrp="1"/>
          </p:cNvSpPr>
          <p:nvPr>
            <p:ph type="body" sz="quarter" idx="18"/>
          </p:nvPr>
        </p:nvSpPr>
        <p:spPr>
          <a:xfrm>
            <a:off x="2517758" y="4057125"/>
            <a:ext cx="9369442" cy="422171"/>
          </a:xfrm>
        </p:spPr>
        <p:txBody>
          <a:bodyPr>
            <a:normAutofit/>
          </a:bodyPr>
          <a:lstStyle/>
          <a:p>
            <a:r>
              <a:rPr lang="en-US" sz="1200" i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ATmega32 (AVR)  ·  Embedded C  ·  Layered HAL / MCAL Architecture</a:t>
            </a:r>
            <a:endParaRPr lang="en-US" sz="1200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8746"/>
            <a:ext cx="11582400" cy="3881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304799" y="1447799"/>
            <a:ext cx="6248401" cy="990601"/>
          </a:xfrm>
        </p:spPr>
        <p:txBody>
          <a:bodyPr/>
          <a:lstStyle/>
          <a:p>
            <a:r>
              <a:rPr lang="en-US" sz="140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Greenhouse Climate Control System keeps growing conditions inside a small greenhouse within a healthy range — without a person having to watch it constantly.</a:t>
            </a:r>
            <a:endParaRPr lang="en-US" sz="1400" dirty="0"/>
          </a:p>
          <a:p>
            <a:endParaRPr lang="en-US" dirty="0"/>
          </a:p>
        </p:txBody>
      </p:sp>
      <p:sp>
        <p:nvSpPr>
          <p:cNvPr id="7" name="Rectangle: Rounded Corners 6"/>
          <p:cNvSpPr/>
          <p:nvPr/>
        </p:nvSpPr>
        <p:spPr>
          <a:xfrm>
            <a:off x="685800" y="381000"/>
            <a:ext cx="4953000" cy="6858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1A2E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10" name="TextBox 9"/>
          <p:cNvSpPr txBox="1"/>
          <p:nvPr/>
        </p:nvSpPr>
        <p:spPr>
          <a:xfrm>
            <a:off x="304799" y="2590800"/>
            <a:ext cx="5791201" cy="909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continuously reads air temperature and soil moisture, then drives a fan, heater, and water pump to correct conditions — either fully on its own in Automatic Mode, or switched directly on and off by the grower in Manual Mode.</a:t>
            </a:r>
            <a:endParaRPr lang="en-US" sz="1400" dirty="0"/>
          </a:p>
        </p:txBody>
      </p:sp>
      <p:sp>
        <p:nvSpPr>
          <p:cNvPr id="11" name="Rectangle: Rounded Corners 10"/>
          <p:cNvSpPr/>
          <p:nvPr/>
        </p:nvSpPr>
        <p:spPr>
          <a:xfrm>
            <a:off x="381000" y="3962400"/>
            <a:ext cx="1828800" cy="1905000"/>
          </a:xfrm>
          <a:prstGeom prst="roundRect">
            <a:avLst/>
          </a:prstGeom>
          <a:solidFill>
            <a:srgbClr val="D9F2D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Sensors monitored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(Temperature &amp; Soil Moisture)</a:t>
            </a:r>
            <a:endParaRPr lang="en-US" sz="1200" dirty="0"/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: Rounded Corners 11"/>
          <p:cNvSpPr/>
          <p:nvPr/>
        </p:nvSpPr>
        <p:spPr>
          <a:xfrm>
            <a:off x="4639236" y="3971365"/>
            <a:ext cx="1828800" cy="1905000"/>
          </a:xfrm>
          <a:prstGeom prst="roundRect">
            <a:avLst/>
          </a:prstGeom>
          <a:solidFill>
            <a:srgbClr val="D9F2D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modes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(Manual &amp; Automatic)</a:t>
            </a:r>
            <a:endParaRPr lang="en-US" sz="1200" dirty="0"/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ctangle: Rounded Corners 12"/>
          <p:cNvSpPr/>
          <p:nvPr/>
        </p:nvSpPr>
        <p:spPr>
          <a:xfrm>
            <a:off x="2510118" y="3971365"/>
            <a:ext cx="1828800" cy="1905000"/>
          </a:xfrm>
          <a:prstGeom prst="roundRect">
            <a:avLst/>
          </a:prstGeom>
          <a:solidFill>
            <a:srgbClr val="D9F2D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Actuators controlled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(Fan, Heater, Water Pump)</a:t>
            </a:r>
            <a:endParaRPr lang="en-US" sz="1200" dirty="0"/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4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5123" y="4038600"/>
            <a:ext cx="541754" cy="541754"/>
          </a:xfrm>
          <a:prstGeom prst="rect">
            <a:avLst/>
          </a:prstGeom>
        </p:spPr>
      </p:pic>
      <p:pic>
        <p:nvPicPr>
          <p:cNvPr id="16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1644" y="4074460"/>
            <a:ext cx="541754" cy="541754"/>
          </a:xfrm>
          <a:prstGeom prst="rect">
            <a:avLst/>
          </a:prstGeom>
        </p:spPr>
      </p:pic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328" y="4038600"/>
            <a:ext cx="541754" cy="541754"/>
          </a:xfrm>
          <a:prstGeom prst="rect">
            <a:avLst/>
          </a:prstGeom>
        </p:spPr>
      </p:pic>
      <p:sp>
        <p:nvSpPr>
          <p:cNvPr id="18" name="Rectangle: Rounded Corners 17"/>
          <p:cNvSpPr/>
          <p:nvPr/>
        </p:nvSpPr>
        <p:spPr>
          <a:xfrm>
            <a:off x="6805128" y="1066800"/>
            <a:ext cx="4853472" cy="4572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8660364" y="1219200"/>
            <a:ext cx="1143000" cy="943255"/>
          </a:xfrm>
          <a:prstGeom prst="ellipse">
            <a:avLst/>
          </a:prstGeom>
          <a:solidFill>
            <a:srgbClr val="D9F2D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Graphic 29" descr="Open hand with plant with solid fill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4664" y="1260679"/>
            <a:ext cx="914400" cy="914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62800" y="259080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it matters</a:t>
            </a:r>
            <a:endParaRPr lang="en-US" sz="1800" dirty="0"/>
          </a:p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7112322" y="3586202"/>
            <a:ext cx="4191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E6EF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Plants need a stable microclimate. Manual monitoring is slow to react and easy to neglect — automation keeps temperature and moisture in range around the clock, and warns the grower before conditions become critical.</a:t>
            </a:r>
            <a:endParaRPr lang="en-US" sz="1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1A2E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Layered System Architecture</a:t>
            </a:r>
            <a:br>
              <a:rPr lang="en-US" sz="3200" dirty="0"/>
            </a:br>
            <a:r>
              <a:rPr lang="ar-EG" sz="1600" dirty="0"/>
              <a:t>)</a:t>
            </a:r>
            <a:r>
              <a:rPr lang="en-US" sz="1600" dirty="0"/>
              <a:t>Software Structure</a:t>
            </a:r>
            <a:r>
              <a:rPr lang="ar-EG" sz="1600" dirty="0"/>
              <a:t>(</a:t>
            </a:r>
            <a:endParaRPr lang="en-US" sz="1600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quarter" idx="15"/>
          </p:nvPr>
        </p:nvGraphicFramePr>
        <p:xfrm>
          <a:off x="304800" y="1447800"/>
          <a:ext cx="11582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04800" y="5526741"/>
            <a:ext cx="1158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/>
              <a:t>Each layer uses functions from the layer below it instead of directly handling hardware registers everywhere.</a:t>
            </a:r>
            <a:endParaRPr lang="ar-EG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i="1" dirty="0" err="1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Commen</a:t>
            </a:r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 (</a:t>
            </a:r>
            <a:r>
              <a:rPr lang="en-US" sz="1600" i="1" dirty="0" err="1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DEFINITIONS.h</a:t>
            </a:r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</a:t>
            </a:r>
            <a:r>
              <a:rPr lang="en-US" sz="1600" i="1" dirty="0" err="1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BIT_MATH.h</a:t>
            </a:r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 provides shared types and bit-manipulation macros used across all three layers</a:t>
            </a:r>
            <a:r>
              <a:rPr lang="ar-EG" sz="1600" i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1A2E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Hardware Components</a:t>
            </a:r>
            <a:br>
              <a:rPr lang="en-US" sz="3200" dirty="0"/>
            </a:b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81001" y="1219200"/>
            <a:ext cx="10972800" cy="8382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33400" y="1333500"/>
            <a:ext cx="685800" cy="6096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37" y="1408237"/>
            <a:ext cx="460126" cy="4601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00200" y="1281560"/>
            <a:ext cx="445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ATmega32 (AVR) Microcontroller</a:t>
            </a:r>
            <a:endParaRPr lang="en-US" sz="1800" dirty="0"/>
          </a:p>
          <a:p>
            <a:r>
              <a:rPr lang="en-US" sz="1200" dirty="0">
                <a:solidFill>
                  <a:srgbClr val="E6EF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Running at 8 MHz — coordinates all sensors, actuators, and the UI</a:t>
            </a:r>
            <a:endParaRPr lang="en-US" sz="1200" dirty="0"/>
          </a:p>
          <a:p>
            <a:endParaRPr lang="en-US" dirty="0"/>
          </a:p>
        </p:txBody>
      </p:sp>
      <p:sp>
        <p:nvSpPr>
          <p:cNvPr id="12" name="Shape 5"/>
          <p:cNvSpPr/>
          <p:nvPr/>
        </p:nvSpPr>
        <p:spPr>
          <a:xfrm>
            <a:off x="4109556" y="2390439"/>
            <a:ext cx="3502152" cy="1691640"/>
          </a:xfrm>
          <a:prstGeom prst="roundRect">
            <a:avLst>
              <a:gd name="adj" fmla="val 5405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6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6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endParaRPr lang="en-US" dirty="0"/>
          </a:p>
        </p:txBody>
      </p:sp>
      <p:sp>
        <p:nvSpPr>
          <p:cNvPr id="13" name="Shape 5"/>
          <p:cNvSpPr/>
          <p:nvPr/>
        </p:nvSpPr>
        <p:spPr>
          <a:xfrm>
            <a:off x="4114038" y="4427220"/>
            <a:ext cx="3502152" cy="1691640"/>
          </a:xfrm>
          <a:prstGeom prst="roundRect">
            <a:avLst>
              <a:gd name="adj" fmla="val 5405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6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6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</p:sp>
      <p:sp>
        <p:nvSpPr>
          <p:cNvPr id="14" name="Shape 5"/>
          <p:cNvSpPr/>
          <p:nvPr/>
        </p:nvSpPr>
        <p:spPr>
          <a:xfrm>
            <a:off x="7847076" y="4427220"/>
            <a:ext cx="3502152" cy="1691640"/>
          </a:xfrm>
          <a:prstGeom prst="roundRect">
            <a:avLst>
              <a:gd name="adj" fmla="val 5405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6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6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</p:sp>
      <p:sp>
        <p:nvSpPr>
          <p:cNvPr id="15" name="Shape 5"/>
          <p:cNvSpPr/>
          <p:nvPr/>
        </p:nvSpPr>
        <p:spPr>
          <a:xfrm>
            <a:off x="7900954" y="2390439"/>
            <a:ext cx="3502152" cy="1691640"/>
          </a:xfrm>
          <a:prstGeom prst="roundRect">
            <a:avLst>
              <a:gd name="adj" fmla="val 5405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6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6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</p:sp>
      <p:sp>
        <p:nvSpPr>
          <p:cNvPr id="16" name="Shape 5"/>
          <p:cNvSpPr/>
          <p:nvPr/>
        </p:nvSpPr>
        <p:spPr>
          <a:xfrm>
            <a:off x="381001" y="4398538"/>
            <a:ext cx="3502152" cy="1691640"/>
          </a:xfrm>
          <a:prstGeom prst="roundRect">
            <a:avLst>
              <a:gd name="adj" fmla="val 5405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6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6">
                  <a:lumMod val="40000"/>
                  <a:lumOff val="60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</p:sp>
      <p:sp>
        <p:nvSpPr>
          <p:cNvPr id="17" name="Shape 5"/>
          <p:cNvSpPr/>
          <p:nvPr/>
        </p:nvSpPr>
        <p:spPr>
          <a:xfrm>
            <a:off x="381001" y="2390439"/>
            <a:ext cx="3502152" cy="1691640"/>
          </a:xfrm>
          <a:prstGeom prst="roundRect">
            <a:avLst>
              <a:gd name="adj" fmla="val 5405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6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6">
                  <a:lumMod val="40000"/>
                  <a:lumOff val="60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542365" y="2519966"/>
            <a:ext cx="725362" cy="64545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8095519" y="4591499"/>
            <a:ext cx="725362" cy="64545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4267200" y="4591500"/>
            <a:ext cx="725362" cy="64545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542365" y="4595983"/>
            <a:ext cx="725362" cy="64545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8095519" y="2514599"/>
            <a:ext cx="725362" cy="64545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267200" y="2590800"/>
            <a:ext cx="725362" cy="645459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16" y="2610250"/>
            <a:ext cx="473659" cy="473659"/>
          </a:xfrm>
          <a:prstGeom prst="rect">
            <a:avLst/>
          </a:prstGeom>
        </p:spPr>
      </p:pic>
      <p:pic>
        <p:nvPicPr>
          <p:cNvPr id="25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051" y="2677434"/>
            <a:ext cx="473659" cy="473659"/>
          </a:xfrm>
          <a:prstGeom prst="rect">
            <a:avLst/>
          </a:prstGeom>
        </p:spPr>
      </p:pic>
      <p:pic>
        <p:nvPicPr>
          <p:cNvPr id="26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370" y="2610249"/>
            <a:ext cx="473659" cy="473659"/>
          </a:xfrm>
          <a:prstGeom prst="rect">
            <a:avLst/>
          </a:prstGeom>
        </p:spPr>
      </p:pic>
      <p:pic>
        <p:nvPicPr>
          <p:cNvPr id="27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16" y="4677398"/>
            <a:ext cx="473659" cy="473659"/>
          </a:xfrm>
          <a:prstGeom prst="rect">
            <a:avLst/>
          </a:prstGeom>
        </p:spPr>
      </p:pic>
      <p:pic>
        <p:nvPicPr>
          <p:cNvPr id="28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0810" y="4677397"/>
            <a:ext cx="473659" cy="473659"/>
          </a:xfrm>
          <a:prstGeom prst="rect">
            <a:avLst/>
          </a:prstGeom>
        </p:spPr>
      </p:pic>
      <p:pic>
        <p:nvPicPr>
          <p:cNvPr id="29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370" y="4677397"/>
            <a:ext cx="473659" cy="47365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11771" y="2977659"/>
            <a:ext cx="300916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LM35 Temp. Sensor</a:t>
            </a:r>
            <a:endParaRPr lang="en-US" sz="1800" b="1" dirty="0">
              <a:solidFill>
                <a:srgbClr val="1A2E1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endParaRPr lang="en-US" sz="1800" dirty="0"/>
          </a:p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mV / °C, read via ADC0</a:t>
            </a:r>
            <a:endParaRPr lang="en-US" sz="1400" dirty="0"/>
          </a:p>
          <a:p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890151" y="2977659"/>
            <a:ext cx="286380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Soil Moisture Sensor</a:t>
            </a:r>
            <a:endParaRPr lang="en-US" sz="1800" b="1" dirty="0">
              <a:solidFill>
                <a:srgbClr val="1A2E1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en-US" b="1" dirty="0">
              <a:solidFill>
                <a:srgbClr val="1A2E1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Analog probe, read via ADC1</a:t>
            </a:r>
            <a:endParaRPr lang="en-US" sz="14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32" name="TextBox 31"/>
          <p:cNvSpPr txBox="1"/>
          <p:nvPr/>
        </p:nvSpPr>
        <p:spPr>
          <a:xfrm>
            <a:off x="8695029" y="2942714"/>
            <a:ext cx="2514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Relay Module ×3</a:t>
            </a:r>
            <a:endParaRPr lang="en-US" sz="1800" dirty="0"/>
          </a:p>
          <a:p>
            <a:pPr algn="ctr"/>
            <a:endParaRPr lang="en-US" dirty="0"/>
          </a:p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Drives fan, heater &amp; pump</a:t>
            </a:r>
            <a:endParaRPr lang="en-US" sz="1400" dirty="0"/>
          </a:p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215799" y="4835443"/>
            <a:ext cx="260111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16×2 LCD</a:t>
            </a:r>
            <a:endParaRPr lang="en-US" sz="1800" dirty="0"/>
          </a:p>
          <a:p>
            <a:pPr algn="ctr"/>
            <a:endParaRPr lang="en-US" dirty="0"/>
          </a:p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readings &amp; system status</a:t>
            </a:r>
            <a:endParaRPr lang="en-US" sz="1400" dirty="0"/>
          </a:p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145724" y="4875909"/>
            <a:ext cx="214364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4×4 Keypad</a:t>
            </a:r>
            <a:endParaRPr lang="en-US" sz="1800" dirty="0"/>
          </a:p>
          <a:p>
            <a:pPr algn="ctr"/>
            <a:endParaRPr lang="en-US" dirty="0"/>
          </a:p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 select &amp; manual input</a:t>
            </a:r>
            <a:endParaRPr lang="en-US" sz="1400" dirty="0"/>
          </a:p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8730888" y="4880837"/>
            <a:ext cx="198387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Buzzer</a:t>
            </a:r>
            <a:endParaRPr lang="en-US" sz="1800" b="1" dirty="0">
              <a:solidFill>
                <a:srgbClr val="1A2E1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endParaRPr lang="en-US" b="1" dirty="0">
              <a:solidFill>
                <a:srgbClr val="1A2E1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alarm indicator</a:t>
            </a:r>
            <a:endParaRPr lang="en-US" sz="1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1A2E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Three Operating Modes</a:t>
            </a:r>
            <a:br>
              <a:rPr lang="en-US" sz="3200" dirty="0"/>
            </a:br>
            <a:r>
              <a:rPr lang="en-US" sz="120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Selected on-device via the keypad menu; switching modes always stops all actuators first.</a:t>
            </a:r>
            <a:br>
              <a:rPr lang="en-US" sz="3200" dirty="0"/>
            </a:br>
            <a:endParaRPr lang="en-US" dirty="0"/>
          </a:p>
        </p:txBody>
      </p:sp>
      <p:sp>
        <p:nvSpPr>
          <p:cNvPr id="4" name="Flowchart: Alternate Process 3"/>
          <p:cNvSpPr/>
          <p:nvPr/>
        </p:nvSpPr>
        <p:spPr>
          <a:xfrm>
            <a:off x="618564" y="2133600"/>
            <a:ext cx="3352800" cy="3962400"/>
          </a:xfrm>
          <a:prstGeom prst="flowChartAlternateProcess">
            <a:avLst/>
          </a:prstGeom>
          <a:gradFill flip="none" rotWithShape="1">
            <a:gsLst>
              <a:gs pos="0">
                <a:srgbClr val="97E57F">
                  <a:shade val="30000"/>
                  <a:satMod val="115000"/>
                </a:srgbClr>
              </a:gs>
              <a:gs pos="50000">
                <a:srgbClr val="97E57F">
                  <a:shade val="67500"/>
                  <a:satMod val="115000"/>
                </a:srgbClr>
              </a:gs>
              <a:gs pos="100000">
                <a:srgbClr val="97E57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Alternate Process 4"/>
          <p:cNvSpPr/>
          <p:nvPr/>
        </p:nvSpPr>
        <p:spPr>
          <a:xfrm>
            <a:off x="8382000" y="2133600"/>
            <a:ext cx="3352800" cy="3962400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Alternate Process 5"/>
          <p:cNvSpPr/>
          <p:nvPr/>
        </p:nvSpPr>
        <p:spPr>
          <a:xfrm>
            <a:off x="4500282" y="2133600"/>
            <a:ext cx="3352800" cy="3962400"/>
          </a:xfrm>
          <a:prstGeom prst="flowChartAlternateProcess">
            <a:avLst/>
          </a:prstGeom>
          <a:gradFill flip="none" rotWithShape="1">
            <a:gsLst>
              <a:gs pos="0">
                <a:srgbClr val="31681E">
                  <a:shade val="30000"/>
                  <a:satMod val="115000"/>
                </a:srgbClr>
              </a:gs>
              <a:gs pos="50000">
                <a:srgbClr val="31681E">
                  <a:shade val="67500"/>
                  <a:satMod val="115000"/>
                </a:srgbClr>
              </a:gs>
              <a:gs pos="100000">
                <a:srgbClr val="31681E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770529" y="2438400"/>
            <a:ext cx="1066800" cy="990600"/>
          </a:xfrm>
          <a:prstGeom prst="ellipse">
            <a:avLst/>
          </a:prstGeom>
          <a:solidFill>
            <a:srgbClr val="F1F1EF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525000" y="2438400"/>
            <a:ext cx="1066800" cy="990600"/>
          </a:xfrm>
          <a:prstGeom prst="ellipse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643282" y="2438400"/>
            <a:ext cx="1066800" cy="990600"/>
          </a:xfrm>
          <a:prstGeom prst="ellipse">
            <a:avLst/>
          </a:prstGeom>
          <a:solidFill>
            <a:srgbClr val="F1F1EF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301" y="2663037"/>
            <a:ext cx="541325" cy="541325"/>
          </a:xfrm>
          <a:prstGeom prst="rect">
            <a:avLst/>
          </a:prstGeom>
        </p:spPr>
      </p:pic>
      <p:pic>
        <p:nvPicPr>
          <p:cNvPr id="11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019" y="2649590"/>
            <a:ext cx="541325" cy="541325"/>
          </a:xfrm>
          <a:prstGeom prst="rect">
            <a:avLst/>
          </a:prstGeom>
        </p:spPr>
      </p:pic>
      <p:pic>
        <p:nvPicPr>
          <p:cNvPr id="12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737" y="2663037"/>
            <a:ext cx="541325" cy="5413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2069" y="3810000"/>
            <a:ext cx="27437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1A2E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Standby</a:t>
            </a:r>
            <a:endParaRPr lang="ar-EG" sz="1800" b="1" dirty="0">
              <a:solidFill>
                <a:srgbClr val="1A2E1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endParaRPr lang="ar-EG" b="1" dirty="0">
              <a:solidFill>
                <a:srgbClr val="1A2E1C"/>
              </a:solidFill>
              <a:latin typeface="Cambria" panose="02040503050406030204" pitchFamily="34" charset="0"/>
              <a:ea typeface="Cambria" panose="02040503050406030204" pitchFamily="34" charset="-122"/>
            </a:endParaRPr>
          </a:p>
          <a:p>
            <a:pPr algn="ctr"/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state on power-up. All actuators are off and no control logic runs.</a:t>
            </a:r>
            <a:endParaRPr lang="en-US" sz="1800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805081" y="3629719"/>
            <a:ext cx="2743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1F1E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Manual</a:t>
            </a:r>
            <a:endParaRPr lang="ar-EG" sz="1800" b="1" dirty="0">
              <a:solidFill>
                <a:srgbClr val="F1F1E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algn="ctr"/>
            <a:endParaRPr lang="ar-EG" b="1" dirty="0">
              <a:solidFill>
                <a:srgbClr val="F1F1EF"/>
              </a:solidFill>
              <a:latin typeface="Cambria" panose="02040503050406030204" pitchFamily="34" charset="0"/>
              <a:ea typeface="Cambria" panose="02040503050406030204" pitchFamily="34" charset="-122"/>
            </a:endParaRPr>
          </a:p>
          <a:p>
            <a:pPr algn="ctr"/>
            <a:r>
              <a:rPr lang="en-US" sz="1800" dirty="0">
                <a:solidFill>
                  <a:srgbClr val="F1F1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grower directly switches the pump, fan, and heater on or off from the keypad; the automatic control logic does not run in this mode.</a:t>
            </a:r>
            <a:endParaRPr lang="en-US" sz="1800" dirty="0">
              <a:solidFill>
                <a:srgbClr val="F1F1EF"/>
              </a:solidFill>
            </a:endParaRP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648698" y="3966362"/>
            <a:ext cx="28194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255B1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Automatic</a:t>
            </a:r>
            <a:endParaRPr lang="en-US" sz="1800" dirty="0">
              <a:solidFill>
                <a:srgbClr val="255B13"/>
              </a:solidFill>
            </a:endParaRPr>
          </a:p>
          <a:p>
            <a:pPr algn="ctr"/>
            <a:endParaRPr lang="ar-EG" dirty="0">
              <a:solidFill>
                <a:srgbClr val="255B13"/>
              </a:solidFill>
            </a:endParaRPr>
          </a:p>
          <a:p>
            <a:pPr algn="ctr"/>
            <a:r>
              <a:rPr lang="en-US" sz="1800" dirty="0">
                <a:solidFill>
                  <a:srgbClr val="255B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controls the fan, heater, and pump using temperature and moisture thresholds, reconfigurable from the keypad.</a:t>
            </a:r>
            <a:endParaRPr lang="en-US" sz="1800" dirty="0">
              <a:solidFill>
                <a:srgbClr val="255B13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1A2E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Temperature Control Logic</a:t>
            </a:r>
            <a:br>
              <a:rPr lang="en-US" sz="3200" dirty="0"/>
            </a:br>
            <a:br>
              <a:rPr lang="ar-EG" sz="3200" dirty="0"/>
            </a:br>
            <a:r>
              <a:rPr lang="en-US" sz="130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mode uses hysteresis so the fan and heater don't rapidly switch on and off near a threshold.</a:t>
            </a:r>
            <a:endParaRPr lang="en-US" sz="1300" dirty="0"/>
          </a:p>
        </p:txBody>
      </p:sp>
      <p:sp>
        <p:nvSpPr>
          <p:cNvPr id="27" name="Shape 2"/>
          <p:cNvSpPr/>
          <p:nvPr/>
        </p:nvSpPr>
        <p:spPr>
          <a:xfrm>
            <a:off x="777240" y="2203973"/>
            <a:ext cx="10058400" cy="502920"/>
          </a:xfrm>
          <a:prstGeom prst="roundRect">
            <a:avLst>
              <a:gd name="adj" fmla="val 10909"/>
            </a:avLst>
          </a:prstGeom>
          <a:solidFill>
            <a:srgbClr val="E2ECDB"/>
          </a:solidFill>
        </p:spPr>
      </p:sp>
      <p:sp>
        <p:nvSpPr>
          <p:cNvPr id="28" name="Shape 3"/>
          <p:cNvSpPr/>
          <p:nvPr/>
        </p:nvSpPr>
        <p:spPr>
          <a:xfrm>
            <a:off x="777240" y="2203973"/>
            <a:ext cx="3291840" cy="502920"/>
          </a:xfrm>
          <a:prstGeom prst="rect">
            <a:avLst/>
          </a:prstGeom>
          <a:solidFill>
            <a:srgbClr val="F2B366"/>
          </a:solidFill>
        </p:spPr>
      </p:sp>
      <p:sp>
        <p:nvSpPr>
          <p:cNvPr id="29" name="Shape 4"/>
          <p:cNvSpPr/>
          <p:nvPr/>
        </p:nvSpPr>
        <p:spPr>
          <a:xfrm>
            <a:off x="4800600" y="2203973"/>
            <a:ext cx="2377440" cy="502920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30" name="Shape 5"/>
          <p:cNvSpPr/>
          <p:nvPr/>
        </p:nvSpPr>
        <p:spPr>
          <a:xfrm>
            <a:off x="8092440" y="2203973"/>
            <a:ext cx="1828800" cy="502920"/>
          </a:xfrm>
          <a:prstGeom prst="rect">
            <a:avLst/>
          </a:prstGeom>
          <a:solidFill>
            <a:srgbClr val="6FA8DC"/>
          </a:solidFill>
        </p:spPr>
      </p:sp>
      <p:sp>
        <p:nvSpPr>
          <p:cNvPr id="31" name="Shape 6"/>
          <p:cNvSpPr/>
          <p:nvPr/>
        </p:nvSpPr>
        <p:spPr>
          <a:xfrm>
            <a:off x="777240" y="2203973"/>
            <a:ext cx="1828800" cy="50292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32" name="Shape 7"/>
          <p:cNvSpPr/>
          <p:nvPr/>
        </p:nvSpPr>
        <p:spPr>
          <a:xfrm>
            <a:off x="9921240" y="2203973"/>
            <a:ext cx="914400" cy="50292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33" name="Shape 8"/>
          <p:cNvSpPr/>
          <p:nvPr/>
        </p:nvSpPr>
        <p:spPr>
          <a:xfrm>
            <a:off x="2606040" y="2130821"/>
            <a:ext cx="0" cy="649224"/>
          </a:xfrm>
          <a:prstGeom prst="line">
            <a:avLst/>
          </a:prstGeom>
          <a:noFill/>
          <a:ln w="15875">
            <a:solidFill>
              <a:srgbClr val="1A2E1C"/>
            </a:solidFill>
            <a:prstDash val="solid"/>
          </a:ln>
        </p:spPr>
      </p:sp>
      <p:sp>
        <p:nvSpPr>
          <p:cNvPr id="34" name="Shape 10"/>
          <p:cNvSpPr/>
          <p:nvPr/>
        </p:nvSpPr>
        <p:spPr>
          <a:xfrm>
            <a:off x="4069080" y="2130821"/>
            <a:ext cx="0" cy="649224"/>
          </a:xfrm>
          <a:prstGeom prst="line">
            <a:avLst/>
          </a:prstGeom>
          <a:noFill/>
          <a:ln w="15875">
            <a:solidFill>
              <a:srgbClr val="1A2E1C"/>
            </a:solidFill>
            <a:prstDash val="solid"/>
          </a:ln>
        </p:spPr>
      </p:sp>
      <p:sp>
        <p:nvSpPr>
          <p:cNvPr id="35" name="Shape 12"/>
          <p:cNvSpPr/>
          <p:nvPr/>
        </p:nvSpPr>
        <p:spPr>
          <a:xfrm>
            <a:off x="4800600" y="2130821"/>
            <a:ext cx="0" cy="649224"/>
          </a:xfrm>
          <a:prstGeom prst="line">
            <a:avLst/>
          </a:prstGeom>
          <a:noFill/>
          <a:ln w="15875">
            <a:solidFill>
              <a:srgbClr val="1A2E1C"/>
            </a:solidFill>
            <a:prstDash val="solid"/>
          </a:ln>
        </p:spPr>
      </p:sp>
      <p:sp>
        <p:nvSpPr>
          <p:cNvPr id="36" name="Shape 14"/>
          <p:cNvSpPr/>
          <p:nvPr/>
        </p:nvSpPr>
        <p:spPr>
          <a:xfrm>
            <a:off x="7178040" y="2130821"/>
            <a:ext cx="0" cy="649224"/>
          </a:xfrm>
          <a:prstGeom prst="line">
            <a:avLst/>
          </a:prstGeom>
          <a:noFill/>
          <a:ln w="15875">
            <a:solidFill>
              <a:srgbClr val="1A2E1C"/>
            </a:solidFill>
            <a:prstDash val="solid"/>
          </a:ln>
        </p:spPr>
      </p:sp>
      <p:sp>
        <p:nvSpPr>
          <p:cNvPr id="37" name="Shape 16"/>
          <p:cNvSpPr/>
          <p:nvPr/>
        </p:nvSpPr>
        <p:spPr>
          <a:xfrm>
            <a:off x="8092440" y="2130821"/>
            <a:ext cx="0" cy="649224"/>
          </a:xfrm>
          <a:prstGeom prst="line">
            <a:avLst/>
          </a:prstGeom>
          <a:noFill/>
          <a:ln w="15875">
            <a:solidFill>
              <a:srgbClr val="1A2E1C"/>
            </a:solidFill>
            <a:prstDash val="solid"/>
          </a:ln>
        </p:spPr>
      </p:sp>
      <p:sp>
        <p:nvSpPr>
          <p:cNvPr id="38" name="Shape 18"/>
          <p:cNvSpPr/>
          <p:nvPr/>
        </p:nvSpPr>
        <p:spPr>
          <a:xfrm>
            <a:off x="9921240" y="2130821"/>
            <a:ext cx="0" cy="649224"/>
          </a:xfrm>
          <a:prstGeom prst="line">
            <a:avLst/>
          </a:prstGeom>
          <a:noFill/>
          <a:ln w="15875">
            <a:solidFill>
              <a:srgbClr val="1A2E1C"/>
            </a:solidFill>
            <a:prstDash val="solid"/>
          </a:ln>
        </p:spPr>
      </p:sp>
      <p:sp>
        <p:nvSpPr>
          <p:cNvPr id="39" name="Text 9"/>
          <p:cNvSpPr/>
          <p:nvPr/>
        </p:nvSpPr>
        <p:spPr>
          <a:xfrm>
            <a:off x="2011680" y="2912633"/>
            <a:ext cx="1188720" cy="5029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10°C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Low</a:t>
            </a:r>
            <a:endParaRPr lang="en-US" sz="950" dirty="0"/>
          </a:p>
        </p:txBody>
      </p:sp>
      <p:sp>
        <p:nvSpPr>
          <p:cNvPr id="40" name="Text 11"/>
          <p:cNvSpPr/>
          <p:nvPr/>
        </p:nvSpPr>
        <p:spPr>
          <a:xfrm>
            <a:off x="3474720" y="2912633"/>
            <a:ext cx="1188720" cy="5029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18°C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Heater ON</a:t>
            </a:r>
            <a:endParaRPr lang="en-US" sz="950" dirty="0"/>
          </a:p>
        </p:txBody>
      </p:sp>
      <p:sp>
        <p:nvSpPr>
          <p:cNvPr id="41" name="Text 13"/>
          <p:cNvSpPr/>
          <p:nvPr/>
        </p:nvSpPr>
        <p:spPr>
          <a:xfrm>
            <a:off x="4206240" y="2917115"/>
            <a:ext cx="1188720" cy="5029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20°C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Heater OFF</a:t>
            </a:r>
            <a:endParaRPr lang="en-US" sz="950" dirty="0"/>
          </a:p>
        </p:txBody>
      </p:sp>
      <p:sp>
        <p:nvSpPr>
          <p:cNvPr id="42" name="Text 15"/>
          <p:cNvSpPr/>
          <p:nvPr/>
        </p:nvSpPr>
        <p:spPr>
          <a:xfrm>
            <a:off x="6583680" y="2912633"/>
            <a:ext cx="1188720" cy="5029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38°C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Fan OFF</a:t>
            </a:r>
            <a:endParaRPr lang="en-US" sz="950" dirty="0"/>
          </a:p>
        </p:txBody>
      </p:sp>
      <p:sp>
        <p:nvSpPr>
          <p:cNvPr id="43" name="Text 17"/>
          <p:cNvSpPr/>
          <p:nvPr/>
        </p:nvSpPr>
        <p:spPr>
          <a:xfrm>
            <a:off x="7498080" y="2912633"/>
            <a:ext cx="1188720" cy="5029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40°C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Fan ON</a:t>
            </a:r>
            <a:endParaRPr lang="en-US" sz="950" dirty="0"/>
          </a:p>
        </p:txBody>
      </p:sp>
      <p:sp>
        <p:nvSpPr>
          <p:cNvPr id="44" name="Text 19"/>
          <p:cNvSpPr/>
          <p:nvPr/>
        </p:nvSpPr>
        <p:spPr>
          <a:xfrm>
            <a:off x="9326880" y="2912633"/>
            <a:ext cx="1188720" cy="5029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50°C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High</a:t>
            </a:r>
            <a:endParaRPr lang="en-US" sz="950" dirty="0"/>
          </a:p>
        </p:txBody>
      </p:sp>
      <p:sp>
        <p:nvSpPr>
          <p:cNvPr id="45" name="Shape 20"/>
          <p:cNvSpPr/>
          <p:nvPr/>
        </p:nvSpPr>
        <p:spPr>
          <a:xfrm>
            <a:off x="914400" y="3927528"/>
            <a:ext cx="201168" cy="201168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46" name="Text 21"/>
          <p:cNvSpPr/>
          <p:nvPr/>
        </p:nvSpPr>
        <p:spPr>
          <a:xfrm>
            <a:off x="1143000" y="3868092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alarm</a:t>
            </a:r>
            <a:endParaRPr lang="en-US" sz="1050" dirty="0"/>
          </a:p>
        </p:txBody>
      </p:sp>
      <p:sp>
        <p:nvSpPr>
          <p:cNvPr id="47" name="Shape 22"/>
          <p:cNvSpPr/>
          <p:nvPr/>
        </p:nvSpPr>
        <p:spPr>
          <a:xfrm>
            <a:off x="3200400" y="3923517"/>
            <a:ext cx="201168" cy="201168"/>
          </a:xfrm>
          <a:prstGeom prst="rect">
            <a:avLst/>
          </a:prstGeom>
          <a:solidFill>
            <a:srgbClr val="F2B366"/>
          </a:solidFill>
        </p:spPr>
      </p:sp>
      <p:sp>
        <p:nvSpPr>
          <p:cNvPr id="48" name="Text 23"/>
          <p:cNvSpPr/>
          <p:nvPr/>
        </p:nvSpPr>
        <p:spPr>
          <a:xfrm>
            <a:off x="3419408" y="3864081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Heater active</a:t>
            </a:r>
            <a:endParaRPr lang="en-US" sz="1050" dirty="0"/>
          </a:p>
        </p:txBody>
      </p:sp>
      <p:sp>
        <p:nvSpPr>
          <p:cNvPr id="49" name="Shape 24"/>
          <p:cNvSpPr/>
          <p:nvPr/>
        </p:nvSpPr>
        <p:spPr>
          <a:xfrm>
            <a:off x="5010912" y="3923517"/>
            <a:ext cx="201168" cy="201168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50" name="Text 25"/>
          <p:cNvSpPr/>
          <p:nvPr/>
        </p:nvSpPr>
        <p:spPr>
          <a:xfrm>
            <a:off x="5209391" y="3864081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Comfortable range</a:t>
            </a:r>
            <a:endParaRPr lang="en-US" sz="1050" dirty="0"/>
          </a:p>
        </p:txBody>
      </p:sp>
      <p:sp>
        <p:nvSpPr>
          <p:cNvPr id="51" name="Shape 26"/>
          <p:cNvSpPr/>
          <p:nvPr/>
        </p:nvSpPr>
        <p:spPr>
          <a:xfrm>
            <a:off x="8092440" y="3922102"/>
            <a:ext cx="201168" cy="201168"/>
          </a:xfrm>
          <a:prstGeom prst="rect">
            <a:avLst/>
          </a:prstGeom>
          <a:solidFill>
            <a:srgbClr val="6FA8DC"/>
          </a:solidFill>
        </p:spPr>
      </p:sp>
      <p:sp>
        <p:nvSpPr>
          <p:cNvPr id="52" name="Text 27"/>
          <p:cNvSpPr/>
          <p:nvPr/>
        </p:nvSpPr>
        <p:spPr>
          <a:xfrm>
            <a:off x="8320502" y="3864081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Fan active</a:t>
            </a:r>
            <a:endParaRPr lang="en-US" sz="1050" dirty="0"/>
          </a:p>
        </p:txBody>
      </p:sp>
      <p:sp>
        <p:nvSpPr>
          <p:cNvPr id="53" name="Shape 28"/>
          <p:cNvSpPr/>
          <p:nvPr/>
        </p:nvSpPr>
        <p:spPr>
          <a:xfrm>
            <a:off x="1066800" y="4714945"/>
            <a:ext cx="10058400" cy="1371600"/>
          </a:xfrm>
          <a:prstGeom prst="roundRect">
            <a:avLst>
              <a:gd name="adj" fmla="val 6667"/>
            </a:avLst>
          </a:prstGeom>
          <a:solidFill>
            <a:srgbClr val="F2F6EE"/>
          </a:solidFill>
        </p:spPr>
      </p:sp>
      <p:sp>
        <p:nvSpPr>
          <p:cNvPr id="54" name="Text 29"/>
          <p:cNvSpPr/>
          <p:nvPr/>
        </p:nvSpPr>
        <p:spPr>
          <a:xfrm>
            <a:off x="1341120" y="4852105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u="sng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mode</a:t>
            </a:r>
            <a:endParaRPr lang="en-US" sz="1300" u="sng" dirty="0"/>
          </a:p>
        </p:txBody>
      </p:sp>
      <p:sp>
        <p:nvSpPr>
          <p:cNvPr id="55" name="Text 30"/>
          <p:cNvSpPr txBox="1"/>
          <p:nvPr/>
        </p:nvSpPr>
        <p:spPr>
          <a:xfrm>
            <a:off x="1341120" y="5172145"/>
            <a:ext cx="9509760" cy="8229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no threshold logic here — the grower switches the fan and heater on/off directly from the keypad. The two are interlocked: turning one on always switches the other off.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1A2E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Soil Moisture Control Logic</a:t>
            </a:r>
            <a:br>
              <a:rPr lang="en-US" sz="3200" dirty="0"/>
            </a:br>
            <a:br>
              <a:rPr lang="en-US" sz="3200" dirty="0"/>
            </a:br>
            <a:r>
              <a:rPr lang="en-US" sz="130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water pump follows the same hysteresis principle: it turns on at the dry threshold and off once moisture recovers past it.</a:t>
            </a:r>
            <a:endParaRPr lang="en-US" sz="1300" dirty="0"/>
          </a:p>
        </p:txBody>
      </p:sp>
      <p:sp>
        <p:nvSpPr>
          <p:cNvPr id="7" name="Shape 2"/>
          <p:cNvSpPr/>
          <p:nvPr/>
        </p:nvSpPr>
        <p:spPr>
          <a:xfrm>
            <a:off x="914400" y="2171702"/>
            <a:ext cx="10058400" cy="502920"/>
          </a:xfrm>
          <a:prstGeom prst="roundRect">
            <a:avLst>
              <a:gd name="adj" fmla="val 10909"/>
            </a:avLst>
          </a:prstGeom>
          <a:solidFill>
            <a:srgbClr val="E2ECDB"/>
          </a:solidFill>
        </p:spPr>
      </p:sp>
      <p:sp>
        <p:nvSpPr>
          <p:cNvPr id="8" name="Shape 3"/>
          <p:cNvSpPr/>
          <p:nvPr/>
        </p:nvSpPr>
        <p:spPr>
          <a:xfrm>
            <a:off x="914400" y="2171702"/>
            <a:ext cx="1005840" cy="50292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9" name="Shape 4"/>
          <p:cNvSpPr/>
          <p:nvPr/>
        </p:nvSpPr>
        <p:spPr>
          <a:xfrm>
            <a:off x="1920240" y="2171702"/>
            <a:ext cx="2514600" cy="502920"/>
          </a:xfrm>
          <a:prstGeom prst="rect">
            <a:avLst/>
          </a:prstGeom>
          <a:solidFill>
            <a:srgbClr val="6FA8DC"/>
          </a:solidFill>
        </p:spPr>
      </p:sp>
      <p:sp>
        <p:nvSpPr>
          <p:cNvPr id="10" name="Shape 5"/>
          <p:cNvSpPr/>
          <p:nvPr/>
        </p:nvSpPr>
        <p:spPr>
          <a:xfrm>
            <a:off x="4434840" y="2171702"/>
            <a:ext cx="2011680" cy="502920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11" name="Shape 6"/>
          <p:cNvSpPr/>
          <p:nvPr/>
        </p:nvSpPr>
        <p:spPr>
          <a:xfrm>
            <a:off x="1920240" y="2098550"/>
            <a:ext cx="0" cy="649224"/>
          </a:xfrm>
          <a:prstGeom prst="line">
            <a:avLst/>
          </a:prstGeom>
          <a:noFill/>
          <a:ln w="15875">
            <a:solidFill>
              <a:srgbClr val="1A2E1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325880" y="2811782"/>
            <a:ext cx="1188720" cy="5029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10%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Dry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434840" y="2098550"/>
            <a:ext cx="0" cy="649224"/>
          </a:xfrm>
          <a:prstGeom prst="line">
            <a:avLst/>
          </a:prstGeom>
          <a:noFill/>
          <a:ln w="15875">
            <a:solidFill>
              <a:srgbClr val="1A2E1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840480" y="2811782"/>
            <a:ext cx="1188720" cy="5029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35%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Pump ON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446520" y="2098550"/>
            <a:ext cx="0" cy="649224"/>
          </a:xfrm>
          <a:prstGeom prst="line">
            <a:avLst/>
          </a:prstGeom>
          <a:noFill/>
          <a:ln w="15875">
            <a:solidFill>
              <a:srgbClr val="1A2E1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852160" y="2811782"/>
            <a:ext cx="1188720" cy="5029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Pump OFF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10972800" y="2098550"/>
            <a:ext cx="0" cy="649224"/>
          </a:xfrm>
          <a:prstGeom prst="line">
            <a:avLst/>
          </a:prstGeom>
          <a:noFill/>
          <a:ln w="15875">
            <a:solidFill>
              <a:srgbClr val="1A2E1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14400" y="3589022"/>
            <a:ext cx="201168" cy="201168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9" name="Text 15"/>
          <p:cNvSpPr/>
          <p:nvPr/>
        </p:nvSpPr>
        <p:spPr>
          <a:xfrm>
            <a:off x="1188720" y="3525014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alarm (&lt; 10%)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023360" y="3589022"/>
            <a:ext cx="201168" cy="201168"/>
          </a:xfrm>
          <a:prstGeom prst="rect">
            <a:avLst/>
          </a:prstGeom>
          <a:solidFill>
            <a:srgbClr val="6FA8DC"/>
          </a:solidFill>
        </p:spPr>
      </p:sp>
      <p:sp>
        <p:nvSpPr>
          <p:cNvPr id="21" name="Text 17"/>
          <p:cNvSpPr/>
          <p:nvPr/>
        </p:nvSpPr>
        <p:spPr>
          <a:xfrm>
            <a:off x="4297680" y="3525014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Pump active (dry)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132320" y="3589022"/>
            <a:ext cx="201168" cy="201168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23" name="Text 19"/>
          <p:cNvSpPr/>
          <p:nvPr/>
        </p:nvSpPr>
        <p:spPr>
          <a:xfrm>
            <a:off x="7406640" y="3525014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Sufficiently moist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14400" y="4569407"/>
            <a:ext cx="10058400" cy="1371600"/>
          </a:xfrm>
          <a:prstGeom prst="roundRect">
            <a:avLst>
              <a:gd name="adj" fmla="val 6667"/>
            </a:avLst>
          </a:prstGeom>
          <a:solidFill>
            <a:srgbClr val="F2F6EE"/>
          </a:solidFill>
        </p:spPr>
      </p:sp>
      <p:sp>
        <p:nvSpPr>
          <p:cNvPr id="25" name="Text 21"/>
          <p:cNvSpPr/>
          <p:nvPr/>
        </p:nvSpPr>
        <p:spPr>
          <a:xfrm>
            <a:off x="1188720" y="4706567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mode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188720" y="5026607"/>
            <a:ext cx="9509760" cy="8229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the grower turns the pump directly on or off from the keypad, independent of the moisture reading.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6566">
              <a:srgbClr val="447E64"/>
            </a:gs>
            <a:gs pos="0">
              <a:srgbClr val="295719"/>
            </a:gs>
            <a:gs pos="87000">
              <a:srgbClr val="31681E"/>
            </a:gs>
            <a:gs pos="55000">
              <a:srgbClr val="D9F2D0"/>
            </a:gs>
            <a:gs pos="100000">
              <a:srgbClr val="295719"/>
            </a:gs>
            <a:gs pos="70000">
              <a:srgbClr val="97E57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Safety &amp; Fail-Safe Features</a:t>
            </a:r>
            <a:br>
              <a:rPr lang="en-US" sz="3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</a:br>
            <a:br>
              <a:rPr lang="en-US" sz="3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</a:b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independent safeguards protect the hardware and the crop, active in both operating modes.</a:t>
            </a:r>
            <a:br>
              <a:rPr lang="en-US" sz="3200" dirty="0"/>
            </a:br>
            <a:endParaRPr lang="en-US" dirty="0"/>
          </a:p>
        </p:txBody>
      </p:sp>
      <p:sp>
        <p:nvSpPr>
          <p:cNvPr id="7" name="Shape 2"/>
          <p:cNvSpPr/>
          <p:nvPr/>
        </p:nvSpPr>
        <p:spPr>
          <a:xfrm>
            <a:off x="630936" y="1905000"/>
            <a:ext cx="3502152" cy="4114800"/>
          </a:xfrm>
          <a:prstGeom prst="roundRect">
            <a:avLst>
              <a:gd name="adj" fmla="val 3133"/>
            </a:avLst>
          </a:prstGeom>
          <a:solidFill>
            <a:schemeClr val="accent6">
              <a:lumMod val="50000"/>
            </a:schemeClr>
          </a:solidFill>
        </p:spPr>
      </p:sp>
      <p:sp>
        <p:nvSpPr>
          <p:cNvPr id="8" name="Shape 3"/>
          <p:cNvSpPr/>
          <p:nvPr/>
        </p:nvSpPr>
        <p:spPr>
          <a:xfrm>
            <a:off x="2020824" y="2270760"/>
            <a:ext cx="731520" cy="731520"/>
          </a:xfrm>
          <a:prstGeom prst="ellipse">
            <a:avLst/>
          </a:prstGeom>
          <a:solidFill>
            <a:srgbClr val="D98324"/>
          </a:solidFill>
        </p:spPr>
      </p:sp>
      <p:pic>
        <p:nvPicPr>
          <p:cNvPr id="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922" y="2365858"/>
            <a:ext cx="541325" cy="5413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13816" y="3185160"/>
            <a:ext cx="3136392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Fan / Heater Interlock</a:t>
            </a:r>
            <a:endParaRPr lang="en-US" sz="1650" dirty="0"/>
          </a:p>
        </p:txBody>
      </p:sp>
      <p:sp>
        <p:nvSpPr>
          <p:cNvPr id="11" name="Text 5"/>
          <p:cNvSpPr txBox="1"/>
          <p:nvPr/>
        </p:nvSpPr>
        <p:spPr>
          <a:xfrm>
            <a:off x="950976" y="3733800"/>
            <a:ext cx="2862072" cy="21031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F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fan and heater can never run at the same time — switching one on always switches the other off first, in both operating modes.</a:t>
            </a:r>
            <a:endParaRPr lang="en-US" sz="1150" dirty="0"/>
          </a:p>
        </p:txBody>
      </p:sp>
      <p:sp>
        <p:nvSpPr>
          <p:cNvPr id="12" name="Shape 6"/>
          <p:cNvSpPr/>
          <p:nvPr/>
        </p:nvSpPr>
        <p:spPr>
          <a:xfrm>
            <a:off x="4315968" y="1905000"/>
            <a:ext cx="3502152" cy="4114800"/>
          </a:xfrm>
          <a:prstGeom prst="roundRect">
            <a:avLst>
              <a:gd name="adj" fmla="val 3133"/>
            </a:avLst>
          </a:prstGeom>
          <a:solidFill>
            <a:schemeClr val="accent6">
              <a:lumMod val="50000"/>
            </a:schemeClr>
          </a:solidFill>
        </p:spPr>
      </p:sp>
      <p:sp>
        <p:nvSpPr>
          <p:cNvPr id="13" name="Shape 7"/>
          <p:cNvSpPr/>
          <p:nvPr/>
        </p:nvSpPr>
        <p:spPr>
          <a:xfrm>
            <a:off x="5705856" y="2270760"/>
            <a:ext cx="731520" cy="731520"/>
          </a:xfrm>
          <a:prstGeom prst="ellipse">
            <a:avLst/>
          </a:prstGeom>
          <a:solidFill>
            <a:srgbClr val="D98324"/>
          </a:solidFill>
        </p:spPr>
      </p:sp>
      <p:pic>
        <p:nvPicPr>
          <p:cNvPr id="14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954" y="2365858"/>
            <a:ext cx="541325" cy="5413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498848" y="3185160"/>
            <a:ext cx="3136392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Critical Alarm</a:t>
            </a:r>
            <a:endParaRPr lang="en-US" sz="1650" dirty="0"/>
          </a:p>
        </p:txBody>
      </p:sp>
      <p:sp>
        <p:nvSpPr>
          <p:cNvPr id="16" name="Text 9"/>
          <p:cNvSpPr txBox="1"/>
          <p:nvPr/>
        </p:nvSpPr>
        <p:spPr>
          <a:xfrm>
            <a:off x="4636008" y="3733800"/>
            <a:ext cx="2862072" cy="21031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F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Buzzer triggers instantly if temperature ≥ 50°C, ≤ 10°C, or moisture ≤ 10%, in either Manual or Automatic mode.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8001000" y="1905000"/>
            <a:ext cx="3502152" cy="4114800"/>
          </a:xfrm>
          <a:prstGeom prst="roundRect">
            <a:avLst>
              <a:gd name="adj" fmla="val 3133"/>
            </a:avLst>
          </a:prstGeom>
          <a:solidFill>
            <a:schemeClr val="accent6">
              <a:lumMod val="50000"/>
            </a:schemeClr>
          </a:solidFill>
        </p:spPr>
      </p:sp>
      <p:sp>
        <p:nvSpPr>
          <p:cNvPr id="18" name="Shape 11"/>
          <p:cNvSpPr/>
          <p:nvPr/>
        </p:nvSpPr>
        <p:spPr>
          <a:xfrm>
            <a:off x="9390888" y="2270760"/>
            <a:ext cx="731520" cy="731520"/>
          </a:xfrm>
          <a:prstGeom prst="ellipse">
            <a:avLst/>
          </a:prstGeom>
          <a:solidFill>
            <a:srgbClr val="D98324"/>
          </a:solidFill>
        </p:spPr>
      </p:sp>
      <p:pic>
        <p:nvPicPr>
          <p:cNvPr id="19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5986" y="2365858"/>
            <a:ext cx="541325" cy="54132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183880" y="3185160"/>
            <a:ext cx="3136392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Sensor Error Handling</a:t>
            </a:r>
            <a:endParaRPr lang="en-US" sz="1650" dirty="0"/>
          </a:p>
        </p:txBody>
      </p:sp>
      <p:sp>
        <p:nvSpPr>
          <p:cNvPr id="21" name="Text 13"/>
          <p:cNvSpPr txBox="1"/>
          <p:nvPr/>
        </p:nvSpPr>
        <p:spPr>
          <a:xfrm>
            <a:off x="8321040" y="3733800"/>
            <a:ext cx="2862072" cy="21031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E6EF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out-of-range reading shuts off the fan, heater &amp; pump, sounds the buzzer, and reports a SENSOR ERROR state.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F2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Main Control Loop</a:t>
            </a:r>
            <a:br>
              <a:rPr lang="en-US" sz="3200" dirty="0"/>
            </a:br>
            <a:endParaRPr lang="en-US" dirty="0"/>
          </a:p>
        </p:txBody>
      </p:sp>
      <p:sp>
        <p:nvSpPr>
          <p:cNvPr id="7" name="Shape 1"/>
          <p:cNvSpPr/>
          <p:nvPr/>
        </p:nvSpPr>
        <p:spPr>
          <a:xfrm>
            <a:off x="529590" y="1965962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2F6EE"/>
          </a:solidFill>
        </p:spPr>
      </p:sp>
      <p:sp>
        <p:nvSpPr>
          <p:cNvPr id="8" name="Text 2"/>
          <p:cNvSpPr txBox="1"/>
          <p:nvPr/>
        </p:nvSpPr>
        <p:spPr>
          <a:xfrm>
            <a:off x="621030" y="1965962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temperature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soil moisture</a:t>
            </a:r>
            <a:endParaRPr lang="en-US" sz="1150" dirty="0"/>
          </a:p>
        </p:txBody>
      </p:sp>
      <p:sp>
        <p:nvSpPr>
          <p:cNvPr id="9" name="Shape 3"/>
          <p:cNvSpPr/>
          <p:nvPr/>
        </p:nvSpPr>
        <p:spPr>
          <a:xfrm>
            <a:off x="2422398" y="2459738"/>
            <a:ext cx="219456" cy="201168"/>
          </a:xfrm>
          <a:prstGeom prst="rightArrow">
            <a:avLst/>
          </a:prstGeom>
          <a:solidFill>
            <a:srgbClr val="97BC62"/>
          </a:solidFill>
        </p:spPr>
      </p:sp>
      <p:sp>
        <p:nvSpPr>
          <p:cNvPr id="10" name="Shape 4"/>
          <p:cNvSpPr/>
          <p:nvPr/>
        </p:nvSpPr>
        <p:spPr>
          <a:xfrm>
            <a:off x="2660142" y="1965962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2F6EE"/>
          </a:solidFill>
        </p:spPr>
      </p:sp>
      <p:sp>
        <p:nvSpPr>
          <p:cNvPr id="11" name="Text 5"/>
          <p:cNvSpPr txBox="1"/>
          <p:nvPr/>
        </p:nvSpPr>
        <p:spPr>
          <a:xfrm>
            <a:off x="2751582" y="1965962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sensor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ranges</a:t>
            </a:r>
            <a:endParaRPr lang="en-US" sz="1150" dirty="0"/>
          </a:p>
        </p:txBody>
      </p:sp>
      <p:sp>
        <p:nvSpPr>
          <p:cNvPr id="12" name="Shape 6"/>
          <p:cNvSpPr/>
          <p:nvPr/>
        </p:nvSpPr>
        <p:spPr>
          <a:xfrm>
            <a:off x="4552950" y="2459738"/>
            <a:ext cx="219456" cy="201168"/>
          </a:xfrm>
          <a:prstGeom prst="rightArrow">
            <a:avLst/>
          </a:prstGeom>
          <a:solidFill>
            <a:srgbClr val="97BC62"/>
          </a:solidFill>
        </p:spPr>
      </p:sp>
      <p:sp>
        <p:nvSpPr>
          <p:cNvPr id="13" name="Shape 7"/>
          <p:cNvSpPr/>
          <p:nvPr/>
        </p:nvSpPr>
        <p:spPr>
          <a:xfrm>
            <a:off x="4790694" y="1965962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2F6EE"/>
          </a:solidFill>
        </p:spPr>
      </p:sp>
      <p:sp>
        <p:nvSpPr>
          <p:cNvPr id="14" name="Text 8"/>
          <p:cNvSpPr txBox="1"/>
          <p:nvPr/>
        </p:nvSpPr>
        <p:spPr>
          <a:xfrm>
            <a:off x="4882134" y="1965962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mode logic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(Manual / Automatic)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6683502" y="2459738"/>
            <a:ext cx="219456" cy="201168"/>
          </a:xfrm>
          <a:prstGeom prst="rightArrow">
            <a:avLst/>
          </a:prstGeom>
          <a:solidFill>
            <a:srgbClr val="97BC62"/>
          </a:solidFill>
        </p:spPr>
      </p:sp>
      <p:sp>
        <p:nvSpPr>
          <p:cNvPr id="16" name="Shape 10"/>
          <p:cNvSpPr/>
          <p:nvPr/>
        </p:nvSpPr>
        <p:spPr>
          <a:xfrm>
            <a:off x="6921246" y="1965962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</p:spPr>
      </p:sp>
      <p:sp>
        <p:nvSpPr>
          <p:cNvPr id="17" name="Text 11"/>
          <p:cNvSpPr txBox="1"/>
          <p:nvPr/>
        </p:nvSpPr>
        <p:spPr>
          <a:xfrm>
            <a:off x="7012686" y="1965962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fan, heater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pump outputs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814054" y="2459738"/>
            <a:ext cx="219456" cy="201168"/>
          </a:xfrm>
          <a:prstGeom prst="rightArrow">
            <a:avLst/>
          </a:prstGeom>
          <a:solidFill>
            <a:srgbClr val="97BC62"/>
          </a:solidFill>
        </p:spPr>
      </p:sp>
      <p:sp>
        <p:nvSpPr>
          <p:cNvPr id="19" name="Shape 13"/>
          <p:cNvSpPr/>
          <p:nvPr/>
        </p:nvSpPr>
        <p:spPr>
          <a:xfrm>
            <a:off x="9051798" y="1965962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F2F6EE"/>
          </a:solidFill>
        </p:spPr>
      </p:sp>
      <p:sp>
        <p:nvSpPr>
          <p:cNvPr id="20" name="Text 14"/>
          <p:cNvSpPr txBox="1"/>
          <p:nvPr/>
        </p:nvSpPr>
        <p:spPr>
          <a:xfrm>
            <a:off x="9143238" y="1965962"/>
            <a:ext cx="1691640" cy="11887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alarm &amp;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LCD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29590" y="3657602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i="1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repeats continuously — sensors are sampled every 500 ms.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29590" y="4434842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BEFE3"/>
          </a:solidFill>
        </p:spPr>
      </p:sp>
      <p:sp>
        <p:nvSpPr>
          <p:cNvPr id="23" name="Shape 17"/>
          <p:cNvSpPr/>
          <p:nvPr/>
        </p:nvSpPr>
        <p:spPr>
          <a:xfrm>
            <a:off x="758190" y="4663442"/>
            <a:ext cx="685800" cy="685800"/>
          </a:xfrm>
          <a:prstGeom prst="ellipse">
            <a:avLst/>
          </a:prstGeom>
          <a:solidFill>
            <a:srgbClr val="D98324"/>
          </a:solidFill>
        </p:spPr>
      </p:sp>
      <p:pic>
        <p:nvPicPr>
          <p:cNvPr id="24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344" y="4752596"/>
            <a:ext cx="507492" cy="50749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26870" y="4754882"/>
            <a:ext cx="9509760" cy="10058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 sensor reading is invalid: </a:t>
            </a:r>
            <a:r>
              <a:rPr lang="en-US" sz="125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loop skips mode logic entirely and calls the sensor-error handler — all actuators off, buzzer on — until a valid reading returns.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/>
          <p:cNvSpPr txBox="1"/>
          <p:nvPr/>
        </p:nvSpPr>
        <p:spPr>
          <a:xfrm>
            <a:off x="381000" y="457200"/>
            <a:ext cx="11094415" cy="7315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1A2E1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Interface</a:t>
            </a:r>
            <a:endParaRPr lang="en-US" sz="3200" dirty="0"/>
          </a:p>
        </p:txBody>
      </p:sp>
      <p:sp>
        <p:nvSpPr>
          <p:cNvPr id="8" name="Text 1"/>
          <p:cNvSpPr/>
          <p:nvPr/>
        </p:nvSpPr>
        <p:spPr>
          <a:xfrm>
            <a:off x="381000" y="114300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16×2 LCD and 4×4 keypad let the grower monitor and configure the system on-device.</a:t>
            </a:r>
            <a:endParaRPr lang="en-US" sz="1300" dirty="0"/>
          </a:p>
        </p:txBody>
      </p:sp>
      <p:sp>
        <p:nvSpPr>
          <p:cNvPr id="9" name="Shape 2"/>
          <p:cNvSpPr/>
          <p:nvPr/>
        </p:nvSpPr>
        <p:spPr>
          <a:xfrm>
            <a:off x="472440" y="187452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13291A"/>
          </a:solidFill>
        </p:spPr>
      </p:sp>
      <p:sp>
        <p:nvSpPr>
          <p:cNvPr id="10" name="Text 3"/>
          <p:cNvSpPr/>
          <p:nvPr/>
        </p:nvSpPr>
        <p:spPr>
          <a:xfrm>
            <a:off x="472440" y="201168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LCD DISPLAY (16×2)</a:t>
            </a:r>
            <a:endParaRPr lang="en-US" sz="1000" dirty="0"/>
          </a:p>
        </p:txBody>
      </p:sp>
      <p:sp>
        <p:nvSpPr>
          <p:cNvPr id="11" name="Shape 4"/>
          <p:cNvSpPr/>
          <p:nvPr/>
        </p:nvSpPr>
        <p:spPr>
          <a:xfrm>
            <a:off x="792480" y="2423160"/>
            <a:ext cx="4480560" cy="1554480"/>
          </a:xfrm>
          <a:prstGeom prst="roundRect">
            <a:avLst>
              <a:gd name="adj" fmla="val 3529"/>
            </a:avLst>
          </a:prstGeom>
          <a:solidFill>
            <a:srgbClr val="9FBF8A"/>
          </a:solidFill>
          <a:ln w="25400">
            <a:solidFill>
              <a:srgbClr val="5C7A4E"/>
            </a:solidFill>
            <a:prstDash val="solid"/>
          </a:ln>
        </p:spPr>
      </p:sp>
      <p:sp>
        <p:nvSpPr>
          <p:cNvPr id="12" name="Text 5"/>
          <p:cNvSpPr/>
          <p:nvPr/>
        </p:nvSpPr>
        <p:spPr>
          <a:xfrm>
            <a:off x="975360" y="25603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2E1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MAN P:0 F:1 H:0</a:t>
            </a:r>
            <a:endParaRPr lang="en-US" sz="1700" dirty="0"/>
          </a:p>
        </p:txBody>
      </p:sp>
      <p:sp>
        <p:nvSpPr>
          <p:cNvPr id="13" name="Text 6"/>
          <p:cNvSpPr/>
          <p:nvPr/>
        </p:nvSpPr>
        <p:spPr>
          <a:xfrm>
            <a:off x="975360" y="315468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2E1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1:P 2:F 3:H =:S</a:t>
            </a:r>
            <a:endParaRPr lang="en-US" sz="1700" dirty="0"/>
          </a:p>
        </p:txBody>
      </p:sp>
      <p:sp>
        <p:nvSpPr>
          <p:cNvPr id="14" name="Text 7"/>
          <p:cNvSpPr txBox="1"/>
          <p:nvPr/>
        </p:nvSpPr>
        <p:spPr>
          <a:xfrm>
            <a:off x="472440" y="4114800"/>
            <a:ext cx="512064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i="1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Manual-mode screen — current actuator states (Pump/Fan/Heater) and available keys</a:t>
            </a:r>
            <a:endParaRPr lang="en-US" sz="1050" dirty="0"/>
          </a:p>
        </p:txBody>
      </p:sp>
      <p:sp>
        <p:nvSpPr>
          <p:cNvPr id="15" name="Shape 8"/>
          <p:cNvSpPr/>
          <p:nvPr/>
        </p:nvSpPr>
        <p:spPr>
          <a:xfrm>
            <a:off x="5913120" y="187452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2F6EE"/>
          </a:solidFill>
        </p:spPr>
      </p:sp>
      <p:sp>
        <p:nvSpPr>
          <p:cNvPr id="16" name="Text 9"/>
          <p:cNvSpPr/>
          <p:nvPr/>
        </p:nvSpPr>
        <p:spPr>
          <a:xfrm>
            <a:off x="5913120" y="2011680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4×4 KEYPAD LAYOUT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6918960" y="237744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6918960" y="2377440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8061960" y="237744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8061960" y="2377440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9204960" y="237744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9204960" y="2377440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10347960" y="237744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10347960" y="2377440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918960" y="2862072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918960" y="2862072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061960" y="2862072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061960" y="2862072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9204960" y="2862072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9204960" y="2862072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10347960" y="2862072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0347960" y="2862072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6918960" y="3346704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918960" y="3346704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8061960" y="3346704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061960" y="3346704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9204960" y="3346704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204960" y="3346704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10347960" y="3346704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10347960" y="3346704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6918960" y="3831336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6918960" y="3831336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8061960" y="3831336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8061960" y="3831336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A2E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300" dirty="0"/>
          </a:p>
        </p:txBody>
      </p:sp>
      <p:sp>
        <p:nvSpPr>
          <p:cNvPr id="45" name="Shape 38"/>
          <p:cNvSpPr/>
          <p:nvPr/>
        </p:nvSpPr>
        <p:spPr>
          <a:xfrm>
            <a:off x="9204960" y="3831336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9204960" y="3831336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</a:t>
            </a:r>
            <a:endParaRPr lang="en-US" sz="1300" dirty="0"/>
          </a:p>
        </p:txBody>
      </p:sp>
      <p:sp>
        <p:nvSpPr>
          <p:cNvPr id="47" name="Shape 40"/>
          <p:cNvSpPr/>
          <p:nvPr/>
        </p:nvSpPr>
        <p:spPr>
          <a:xfrm>
            <a:off x="10347960" y="3831336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 w="12700">
            <a:solidFill>
              <a:srgbClr val="C6D6C1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10347960" y="3831336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1300" dirty="0"/>
          </a:p>
        </p:txBody>
      </p:sp>
      <p:sp>
        <p:nvSpPr>
          <p:cNvPr id="49" name="Text 42"/>
          <p:cNvSpPr txBox="1"/>
          <p:nvPr/>
        </p:nvSpPr>
        <p:spPr>
          <a:xfrm>
            <a:off x="5913120" y="4325112"/>
            <a:ext cx="5394960" cy="27432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i="1" dirty="0">
                <a:solidFill>
                  <a:srgbClr val="5C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Digits enter values; C cancels/backs out; = confirms an entry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472440" y="5074920"/>
            <a:ext cx="10835640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</p:spPr>
      </p:sp>
      <p:sp>
        <p:nvSpPr>
          <p:cNvPr id="51" name="Text 44"/>
          <p:cNvSpPr txBox="1"/>
          <p:nvPr/>
        </p:nvSpPr>
        <p:spPr>
          <a:xfrm>
            <a:off x="746760" y="5074920"/>
            <a:ext cx="10241280" cy="10515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 flow:  </a:t>
            </a:r>
            <a:r>
              <a:rPr lang="en-US" sz="1300" dirty="0">
                <a:solidFill>
                  <a:srgbClr val="E6EF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 Menu  →  Manual / Automatic Screen  →  Config Menu (Min/Max Temp, Min Moisture)  →  back to previous screen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"/>
          <p:cNvSpPr/>
          <p:nvPr/>
        </p:nvSpPr>
        <p:spPr>
          <a:xfrm>
            <a:off x="8747760" y="685800"/>
            <a:ext cx="1097280" cy="109728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</p:sp>
      <p:pic>
        <p:nvPicPr>
          <p:cNvPr id="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406" y="828446"/>
            <a:ext cx="811987" cy="811987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792480" y="12344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10" name="Text 3"/>
          <p:cNvSpPr txBox="1"/>
          <p:nvPr/>
        </p:nvSpPr>
        <p:spPr>
          <a:xfrm>
            <a:off x="792480" y="1691640"/>
            <a:ext cx="8778240" cy="155448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Build a simple, reliable automated greenhouse system that monitors temperature and soil moisture, and controls the fan, heater, and pump to maintain suitable growing conditions — with safety limits that protect the hardware and alert the grower.</a:t>
            </a:r>
            <a:endParaRPr lang="en-US" sz="2000" dirty="0"/>
          </a:p>
        </p:txBody>
      </p:sp>
      <p:sp>
        <p:nvSpPr>
          <p:cNvPr id="11" name="Shape 4"/>
          <p:cNvSpPr/>
          <p:nvPr/>
        </p:nvSpPr>
        <p:spPr>
          <a:xfrm>
            <a:off x="792480" y="3566160"/>
            <a:ext cx="10515600" cy="0"/>
          </a:xfrm>
          <a:prstGeom prst="line">
            <a:avLst/>
          </a:prstGeom>
          <a:noFill/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5"/>
          <p:cNvSpPr/>
          <p:nvPr/>
        </p:nvSpPr>
        <p:spPr>
          <a:xfrm>
            <a:off x="792480" y="38404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4</a:t>
            </a:r>
            <a:endParaRPr lang="en-US" sz="1300" dirty="0"/>
          </a:p>
        </p:txBody>
      </p:sp>
      <p:sp>
        <p:nvSpPr>
          <p:cNvPr id="13" name="Shape 6"/>
          <p:cNvSpPr/>
          <p:nvPr/>
        </p:nvSpPr>
        <p:spPr>
          <a:xfrm>
            <a:off x="792480" y="4306824"/>
            <a:ext cx="91440" cy="91440"/>
          </a:xfrm>
          <a:prstGeom prst="ellipse">
            <a:avLst/>
          </a:prstGeom>
          <a:solidFill>
            <a:srgbClr val="D98324"/>
          </a:solidFill>
        </p:spPr>
      </p:sp>
      <p:sp>
        <p:nvSpPr>
          <p:cNvPr id="14" name="Text 7"/>
          <p:cNvSpPr/>
          <p:nvPr/>
        </p:nvSpPr>
        <p:spPr>
          <a:xfrm>
            <a:off x="1066800" y="4142232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Sama Mohamed Mahmoud</a:t>
            </a:r>
            <a:endParaRPr lang="en-US" sz="1450" dirty="0"/>
          </a:p>
        </p:txBody>
      </p:sp>
      <p:sp>
        <p:nvSpPr>
          <p:cNvPr id="15" name="Shape 8"/>
          <p:cNvSpPr/>
          <p:nvPr/>
        </p:nvSpPr>
        <p:spPr>
          <a:xfrm>
            <a:off x="792480" y="4764024"/>
            <a:ext cx="91440" cy="91440"/>
          </a:xfrm>
          <a:prstGeom prst="ellipse">
            <a:avLst/>
          </a:prstGeom>
          <a:solidFill>
            <a:srgbClr val="D98324"/>
          </a:solidFill>
        </p:spPr>
      </p:sp>
      <p:sp>
        <p:nvSpPr>
          <p:cNvPr id="16" name="Text 9"/>
          <p:cNvSpPr/>
          <p:nvPr/>
        </p:nvSpPr>
        <p:spPr>
          <a:xfrm>
            <a:off x="1066800" y="4599432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Aseel Muhammed Elsayed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792480" y="5221224"/>
            <a:ext cx="91440" cy="91440"/>
          </a:xfrm>
          <a:prstGeom prst="ellipse">
            <a:avLst/>
          </a:prstGeom>
          <a:solidFill>
            <a:srgbClr val="D98324"/>
          </a:solidFill>
        </p:spPr>
      </p:sp>
      <p:sp>
        <p:nvSpPr>
          <p:cNvPr id="18" name="Text 11"/>
          <p:cNvSpPr/>
          <p:nvPr/>
        </p:nvSpPr>
        <p:spPr>
          <a:xfrm>
            <a:off x="1066800" y="5056632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Khaled Mohamed Ahmed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792480" y="5678424"/>
            <a:ext cx="91440" cy="91440"/>
          </a:xfrm>
          <a:prstGeom prst="ellipse">
            <a:avLst/>
          </a:prstGeom>
          <a:solidFill>
            <a:srgbClr val="D98324"/>
          </a:solidFill>
        </p:spPr>
      </p:sp>
      <p:sp>
        <p:nvSpPr>
          <p:cNvPr id="20" name="Text 13"/>
          <p:cNvSpPr/>
          <p:nvPr/>
        </p:nvSpPr>
        <p:spPr>
          <a:xfrm>
            <a:off x="1066800" y="5513832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Mohamed Sedeek Mohamed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6553200" y="5623560"/>
            <a:ext cx="4846320" cy="54864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2400" i="1" dirty="0">
                <a:solidFill>
                  <a:srgbClr val="97BC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dant green">
  <a:themeElements>
    <a:clrScheme name="Clean Styles">
      <a:dk1>
        <a:srgbClr val="000000"/>
      </a:dk1>
      <a:lt1>
        <a:srgbClr val="FFFFFF"/>
      </a:lt1>
      <a:dk2>
        <a:srgbClr val="0E2841"/>
      </a:dk2>
      <a:lt2>
        <a:srgbClr val="F1F0EE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09">
      <a:majorFont>
        <a:latin typeface="Univers Light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3C7AED-0012-46FA-9D94-32A94FCFC643}">
  <ds:schemaRefs/>
</ds:datastoreItem>
</file>

<file path=customXml/itemProps2.xml><?xml version="1.0" encoding="utf-8"?>
<ds:datastoreItem xmlns:ds="http://schemas.openxmlformats.org/officeDocument/2006/customXml" ds:itemID="{094E715A-E89E-4D2B-BDA6-D6593AD9E0E5}">
  <ds:schemaRefs/>
</ds:datastoreItem>
</file>

<file path=customXml/itemProps3.xml><?xml version="1.0" encoding="utf-8"?>
<ds:datastoreItem xmlns:ds="http://schemas.openxmlformats.org/officeDocument/2006/customXml" ds:itemID="{1BE9DB51-DBDA-4A25-B37D-4D00B33ED6D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Verdant green</Template>
  <TotalTime>0</TotalTime>
  <Words>4682</Words>
  <Application>WPS Presentation</Application>
  <PresentationFormat>Widescreen</PresentationFormat>
  <Paragraphs>253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4" baseType="lpstr">
      <vt:lpstr>Arial</vt:lpstr>
      <vt:lpstr>SimSun</vt:lpstr>
      <vt:lpstr>Wingdings</vt:lpstr>
      <vt:lpstr>Aptos Serif</vt:lpstr>
      <vt:lpstr>Times New Roman</vt:lpstr>
      <vt:lpstr>Inter</vt:lpstr>
      <vt:lpstr>Corbel</vt:lpstr>
      <vt:lpstr>Univers Light</vt:lpstr>
      <vt:lpstr>Yu Gothic UI Semilight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Aptos</vt:lpstr>
      <vt:lpstr>Segoe UI</vt:lpstr>
      <vt:lpstr>Verdant green</vt:lpstr>
      <vt:lpstr>Greenhouse Climate Control System</vt:lpstr>
      <vt:lpstr>PowerPoint 演示文稿</vt:lpstr>
      <vt:lpstr>Layered System Architecture )Software Structure(</vt:lpstr>
      <vt:lpstr>Hardware Components </vt:lpstr>
      <vt:lpstr>Three Operating Modes Selected on-device via the keypad menu; switching modes always stops all actuators first. </vt:lpstr>
      <vt:lpstr>Temperature Control Logic  Automatic mode uses hysteresis so the fan and heater don't rapidly switch on and off near a threshold.</vt:lpstr>
      <vt:lpstr>Soil Moisture Control Logic  The water pump follows the same hysteresis principle: it turns on at the dry threshold and off once moisture recovers past it.</vt:lpstr>
      <vt:lpstr>Safety &amp; Fail-Safe Features  Three independent safeguards protect the hardware and the crop, active in both operating modes. </vt:lpstr>
      <vt:lpstr>Main Control Loop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Greenhouse Climate Control System</dc:title>
  <dc:creator>Aseel Muhammed</dc:creator>
  <cp:lastModifiedBy>Aseel Muhammed</cp:lastModifiedBy>
  <cp:revision>17</cp:revision>
  <dcterms:created xsi:type="dcterms:W3CDTF">2026-08-29T16:03:00Z</dcterms:created>
  <dcterms:modified xsi:type="dcterms:W3CDTF">2026-08-31T09:04:26Z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>
    </vt:lpwstr>
  </property>
  <property fmtid="{D5CDD505-2E9C-101B-9397-08002B2CF9AE}" pid="3" name="KSOProductBuildVer">
    <vt:lpwstr>1033-12.1.0.28032</vt:lpwstr>
  </property>
  <property fmtid="{D5CDD505-2E9C-101B-9397-08002B2CF9AE}" pid="4" name="ICV">
    <vt:lpwstr>265E402C4F064B87842266C2CD54C6F0_12</vt:lpwstr>
  </property>
</Properties>
</file>